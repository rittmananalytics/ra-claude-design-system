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SemiBold"/>
      <p:regular r:id="rId22"/>
      <p:bold r:id="rId23"/>
      <p:italic r:id="rId24"/>
      <p:boldItalic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Google Sans"/>
      <p:regular r:id="rId34"/>
      <p:bold r:id="rId35"/>
      <p:italic r:id="rId36"/>
      <p:boldItalic r:id="rId37"/>
    </p:embeddedFont>
    <p:embeddedFont>
      <p:font typeface="Google Sans Medium"/>
      <p:regular r:id="rId38"/>
      <p:bold r:id="rId39"/>
      <p:italic r:id="rId40"/>
      <p:boldItalic r:id="rId41"/>
    </p:embeddedFont>
    <p:embeddedFont>
      <p:font typeface="Helvetica Neue"/>
      <p:regular r:id="rId42"/>
      <p:bold r:id="rId43"/>
      <p:italic r:id="rId44"/>
      <p:boldItalic r:id="rId45"/>
    </p:embeddedFont>
    <p:embeddedFont>
      <p:font typeface="Helvetica Neue Light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oogleSansMedium-italic.fntdata"/><Relationship Id="rId42" Type="http://schemas.openxmlformats.org/officeDocument/2006/relationships/font" Target="fonts/HelveticaNeue-regular.fntdata"/><Relationship Id="rId41" Type="http://schemas.openxmlformats.org/officeDocument/2006/relationships/font" Target="fonts/GoogleSansMedium-boldItalic.fntdata"/><Relationship Id="rId44" Type="http://schemas.openxmlformats.org/officeDocument/2006/relationships/font" Target="fonts/HelveticaNeue-italic.fntdata"/><Relationship Id="rId43" Type="http://schemas.openxmlformats.org/officeDocument/2006/relationships/font" Target="fonts/HelveticaNeue-bold.fntdata"/><Relationship Id="rId46" Type="http://schemas.openxmlformats.org/officeDocument/2006/relationships/font" Target="fonts/HelveticaNeueLight-regular.fntdata"/><Relationship Id="rId45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HelveticaNeueLight-italic.fntdata"/><Relationship Id="rId47" Type="http://schemas.openxmlformats.org/officeDocument/2006/relationships/font" Target="fonts/HelveticaNeueLight-bold.fntdata"/><Relationship Id="rId49" Type="http://schemas.openxmlformats.org/officeDocument/2006/relationships/font" Target="fonts/HelveticaNeue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33" Type="http://schemas.openxmlformats.org/officeDocument/2006/relationships/font" Target="fonts/Lato-boldItalic.fntdata"/><Relationship Id="rId32" Type="http://schemas.openxmlformats.org/officeDocument/2006/relationships/font" Target="fonts/Lato-italic.fntdata"/><Relationship Id="rId35" Type="http://schemas.openxmlformats.org/officeDocument/2006/relationships/font" Target="fonts/GoogleSans-bold.fntdata"/><Relationship Id="rId34" Type="http://schemas.openxmlformats.org/officeDocument/2006/relationships/font" Target="fonts/GoogleSans-regular.fntdata"/><Relationship Id="rId37" Type="http://schemas.openxmlformats.org/officeDocument/2006/relationships/font" Target="fonts/GoogleSans-boldItalic.fntdata"/><Relationship Id="rId36" Type="http://schemas.openxmlformats.org/officeDocument/2006/relationships/font" Target="fonts/GoogleSans-italic.fntdata"/><Relationship Id="rId39" Type="http://schemas.openxmlformats.org/officeDocument/2006/relationships/font" Target="fonts/GoogleSansMedium-bold.fntdata"/><Relationship Id="rId38" Type="http://schemas.openxmlformats.org/officeDocument/2006/relationships/font" Target="fonts/GoogleSansMedium-regular.fntdata"/><Relationship Id="rId20" Type="http://schemas.openxmlformats.org/officeDocument/2006/relationships/slide" Target="slides/slide15.xml"/><Relationship Id="rId22" Type="http://schemas.openxmlformats.org/officeDocument/2006/relationships/font" Target="fonts/GoogleSansSemiBold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SemiBold-italic.fntdata"/><Relationship Id="rId23" Type="http://schemas.openxmlformats.org/officeDocument/2006/relationships/font" Target="fonts/GoogleSansSemiBold-bold.fntdata"/><Relationship Id="rId26" Type="http://schemas.openxmlformats.org/officeDocument/2006/relationships/font" Target="fonts/Roboto-regular.fntdata"/><Relationship Id="rId25" Type="http://schemas.openxmlformats.org/officeDocument/2006/relationships/font" Target="fonts/GoogleSansSemiBold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29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68e1ae52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68e1ae52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68e1ae52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68e1ae52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9c48b6f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9c48b6f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9c48b6f1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9c48b6f1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9c48b6f1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9c48b6f1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9c48b6f1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9c48b6f1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9c48b6f1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9c48b6f1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9c48b6f1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9c48b6f1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9c48b6f19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9c48b6f19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9c48b6f19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d9c48b6f19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9c48b6f19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d9c48b6f19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9c48b6f19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d9c48b6f19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9c48b6f19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d9c48b6f19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d9c48b6f19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d9c48b6f19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9c48b6f19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d9c48b6f19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9c48b6f19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d9c48b6f19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41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4">
  <p:cSld name="1_Custom Layout_7_2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6575" y="4524400"/>
            <a:ext cx="1547775" cy="6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4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>
            <p:ph type="title"/>
          </p:nvPr>
        </p:nvSpPr>
        <p:spPr>
          <a:xfrm>
            <a:off x="239100" y="1476975"/>
            <a:ext cx="51828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239100" y="1144575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600"/>
              <a:buFont typeface="Google Sans"/>
              <a:buNone/>
              <a:defRPr b="0" i="0" sz="1400" u="none" cap="none" strike="noStrike"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2" type="subTitle"/>
          </p:nvPr>
        </p:nvSpPr>
        <p:spPr>
          <a:xfrm>
            <a:off x="239100" y="2990175"/>
            <a:ext cx="5128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Google Sans"/>
              <a:buNone/>
              <a:defRPr b="0" i="0" sz="17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5425" y="4304226"/>
            <a:ext cx="2556355" cy="6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650" y="324000"/>
            <a:ext cx="1230450" cy="43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4 2">
  <p:cSld name="1_Custom Layout_7_2_1_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6575" y="4524400"/>
            <a:ext cx="1547775" cy="6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4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>
            <p:ph type="title"/>
          </p:nvPr>
        </p:nvSpPr>
        <p:spPr>
          <a:xfrm>
            <a:off x="239100" y="1476975"/>
            <a:ext cx="51828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Google Sans"/>
              <a:buNone/>
              <a:defRPr sz="60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239100" y="1144575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600"/>
              <a:buFont typeface="Google Sans"/>
              <a:buNone/>
              <a:defRPr b="0" i="0" sz="1400" u="none" cap="none" strike="noStrike"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2" type="subTitle"/>
          </p:nvPr>
        </p:nvSpPr>
        <p:spPr>
          <a:xfrm>
            <a:off x="239100" y="2990175"/>
            <a:ext cx="5128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Google Sans"/>
              <a:buNone/>
              <a:defRPr b="0" i="0" sz="17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pic>
        <p:nvPicPr>
          <p:cNvPr id="29" name="Google Shape;2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5425" y="4304226"/>
            <a:ext cx="2556355" cy="6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650" y="324000"/>
            <a:ext cx="1230450" cy="43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TITLE_AND_BODY_3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idx="1" type="body"/>
          </p:nvPr>
        </p:nvSpPr>
        <p:spPr>
          <a:xfrm>
            <a:off x="311700" y="103838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ogle Sans"/>
              <a:buChar char="●"/>
              <a:defRPr b="0" i="0" sz="16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○"/>
              <a:defRPr b="0" i="0" sz="14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■"/>
              <a:defRPr b="0" i="0" sz="13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ogle Sans"/>
              <a:buChar char="●"/>
              <a:defRPr b="0" i="0" sz="12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oogle Sans"/>
              <a:buChar char="○"/>
              <a:defRPr b="0" i="0" sz="11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ogle Sans"/>
              <a:buChar char="■"/>
              <a:defRPr b="0" i="0" sz="10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ogle Sans"/>
              <a:buChar char="●"/>
              <a:defRPr b="0" i="0" sz="9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oogle Sans"/>
              <a:buChar char="○"/>
              <a:defRPr b="0" i="0" sz="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2730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Google Sans"/>
              <a:buChar char="■"/>
              <a:defRPr b="0" i="0" sz="7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600"/>
              <a:buFont typeface="Google Sans"/>
              <a:buNone/>
              <a:defRPr b="1" i="0" sz="1400" u="none" cap="none" strike="noStrike"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Section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-6225"/>
            <a:ext cx="9168900" cy="5149800"/>
          </a:xfrm>
          <a:prstGeom prst="rect">
            <a:avLst/>
          </a:prstGeom>
          <a:solidFill>
            <a:srgbClr val="2F399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565075" y="1995950"/>
            <a:ext cx="767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892200" y="2843150"/>
            <a:ext cx="5072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Google Sans"/>
              <a:buNone/>
              <a:defRPr b="0" i="0" sz="1900" u="none" cap="none" strike="noStrik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○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■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●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○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■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●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○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■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○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■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●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○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■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●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○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oogle Sans"/>
              <a:buChar char="■"/>
              <a:defRPr b="0" i="0" sz="12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sz="28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3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600"/>
              <a:buFont typeface="Google Sans"/>
              <a:buNone/>
              <a:defRPr b="1" i="0" sz="1400" u="none" cap="none" strike="noStrike"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lumns">
  <p:cSld name="CUSTOM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lumns 1">
  <p:cSld name="CUSTOM_2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6685350" y="2684400"/>
            <a:ext cx="2458500" cy="245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2150" y="4511800"/>
            <a:ext cx="1579226" cy="63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4F6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Title and Body Columns">
  <p:cSld name="TITLE_AND_BODY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754850" y="1546250"/>
            <a:ext cx="2960700" cy="10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879450" y="1609350"/>
            <a:ext cx="4085700" cy="26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oogle Sans"/>
              <a:buChar char="●"/>
              <a:defRPr b="0" i="0" sz="13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○"/>
              <a:defRPr b="0" i="0" sz="13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■"/>
              <a:defRPr b="0" i="0" sz="13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●"/>
              <a:defRPr b="0" i="0" sz="13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○"/>
              <a:defRPr b="0" i="0" sz="13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11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■"/>
              <a:defRPr b="0" i="0" sz="13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11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●"/>
              <a:defRPr b="0" i="0" sz="13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11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○"/>
              <a:defRPr b="0" i="0" sz="13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11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■"/>
              <a:defRPr b="0" i="0" sz="13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pic>
        <p:nvPicPr>
          <p:cNvPr id="53" name="Google Shape;5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2150" y="4511800"/>
            <a:ext cx="1579226" cy="6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4 1">
  <p:cSld name="1_Custom Layout_7_2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6575" y="4524400"/>
            <a:ext cx="1547775" cy="6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13C9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"/>
          <p:cNvSpPr txBox="1"/>
          <p:nvPr>
            <p:ph type="title"/>
          </p:nvPr>
        </p:nvSpPr>
        <p:spPr>
          <a:xfrm>
            <a:off x="239100" y="1476975"/>
            <a:ext cx="51828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0" name="Google Shape;60;p10"/>
          <p:cNvSpPr txBox="1"/>
          <p:nvPr>
            <p:ph idx="1" type="subTitle"/>
          </p:nvPr>
        </p:nvSpPr>
        <p:spPr>
          <a:xfrm>
            <a:off x="239100" y="1144575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FF99"/>
              </a:buClr>
              <a:buSzPts val="1600"/>
              <a:buFont typeface="Google Sans SemiBold"/>
              <a:buNone/>
              <a:defRPr b="0" i="0" sz="1400" u="none" cap="none" strike="noStrike">
                <a:solidFill>
                  <a:srgbClr val="99FF9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1" name="Google Shape;6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300" y="442477"/>
            <a:ext cx="1012788" cy="3324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0"/>
          <p:cNvSpPr txBox="1"/>
          <p:nvPr>
            <p:ph idx="2" type="subTitle"/>
          </p:nvPr>
        </p:nvSpPr>
        <p:spPr>
          <a:xfrm>
            <a:off x="239100" y="2990175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Google Sans"/>
              <a:buNone/>
              <a:defRPr b="0" i="0" sz="17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lt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pic>
        <p:nvPicPr>
          <p:cNvPr id="63" name="Google Shape;6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5425" y="4304226"/>
            <a:ext cx="2556355" cy="6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Section 1">
  <p:cSld name="MAIN_POINT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/>
          <p:nvPr/>
        </p:nvSpPr>
        <p:spPr>
          <a:xfrm>
            <a:off x="0" y="-6225"/>
            <a:ext cx="9168900" cy="5149800"/>
          </a:xfrm>
          <a:prstGeom prst="rect">
            <a:avLst/>
          </a:prstGeom>
          <a:solidFill>
            <a:srgbClr val="1F24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1"/>
          <p:cNvSpPr txBox="1"/>
          <p:nvPr>
            <p:ph type="title"/>
          </p:nvPr>
        </p:nvSpPr>
        <p:spPr>
          <a:xfrm>
            <a:off x="565075" y="1995950"/>
            <a:ext cx="767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7" name="Google Shape;67;p11"/>
          <p:cNvSpPr txBox="1"/>
          <p:nvPr>
            <p:ph idx="1" type="subTitle"/>
          </p:nvPr>
        </p:nvSpPr>
        <p:spPr>
          <a:xfrm>
            <a:off x="1892200" y="2843150"/>
            <a:ext cx="5072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Google Sans"/>
              <a:buNone/>
              <a:defRPr b="0" i="0" sz="1900" u="none" cap="none" strike="noStrik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None/>
              <a:defRPr b="0" i="0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lumns 2">
  <p:cSld name="CUSTOM_2_2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type="title"/>
          </p:nvPr>
        </p:nvSpPr>
        <p:spPr>
          <a:xfrm>
            <a:off x="565075" y="1995950"/>
            <a:ext cx="7674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1" name="Google Shape;71;p12"/>
          <p:cNvSpPr txBox="1"/>
          <p:nvPr>
            <p:ph idx="1" type="subTitle"/>
          </p:nvPr>
        </p:nvSpPr>
        <p:spPr>
          <a:xfrm>
            <a:off x="1892200" y="2843150"/>
            <a:ext cx="5072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Google Sans"/>
              <a:buNone/>
              <a:defRPr b="0" i="0" sz="19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None/>
              <a:defRPr b="0" i="0" sz="14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lumns 2 1">
  <p:cSld name="CUSTOM_2_2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Title 1 1">
  <p:cSld name="1_Custom Layout_6_1_1">
    <p:bg>
      <p:bgPr>
        <a:solidFill>
          <a:schemeClr val="dk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Title 1 1 1">
  <p:cSld name="1_Custom Layout_6_1_1_1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1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Title 1 1 1 1">
  <p:cSld name="1_Custom Layout_6_1_1_1_1">
    <p:bg>
      <p:bgPr>
        <a:solidFill>
          <a:schemeClr val="dk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1">
  <p:cSld name="TITLE_AND_BODY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03838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ogle Sans"/>
              <a:buChar char="●"/>
              <a:defRPr sz="1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○"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Google Sans"/>
              <a:buChar char="■"/>
              <a:defRPr sz="13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oogle Sans"/>
              <a:buChar char="●"/>
              <a:defRPr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oogle Sans"/>
              <a:buChar char="○"/>
              <a:defRPr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oogle Sans"/>
              <a:buChar char="■"/>
              <a:defRPr sz="10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ogle Sans"/>
              <a:buChar char="●"/>
              <a:defRPr sz="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Google Sans"/>
              <a:buChar char="○"/>
              <a:defRPr sz="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Google Sans"/>
              <a:buChar char="■"/>
              <a:defRPr sz="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400"/>
              <a:buFont typeface="Google Sans"/>
              <a:buNone/>
              <a:defRPr b="1"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2">
  <p:cSld name="TITLE_AND_BODY_3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03838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●"/>
              <a:defRPr sz="16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Char char="○"/>
              <a:defRPr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 Light"/>
              <a:buChar char="■"/>
              <a:defRPr sz="13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Char char="●"/>
              <a:defRPr sz="1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 Light"/>
              <a:buChar char="○"/>
              <a:defRPr sz="11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Char char="■"/>
              <a:defRPr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 Light"/>
              <a:buChar char="●"/>
              <a:defRPr sz="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 Light"/>
              <a:buChar char="○"/>
              <a:defRPr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Helvetica Neue Light"/>
              <a:buChar char="■"/>
              <a:defRPr sz="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336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F60FF"/>
              </a:buClr>
              <a:buSzPts val="1400"/>
              <a:buFont typeface="Helvetica Neue"/>
              <a:buNone/>
              <a:defRPr b="1">
                <a:solidFill>
                  <a:srgbClr val="4F60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311700" y="1115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/>
        </p:nvSpPr>
        <p:spPr>
          <a:xfrm>
            <a:off x="144425" y="4676425"/>
            <a:ext cx="696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© Rittman Analytics 2024     T: +44 (0)208 058 5951	W: https://rittmananalytics.com	E: info@rittmananalytics.com    </a:t>
            </a:r>
            <a:endParaRPr b="0" i="0" sz="9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22150" y="4511800"/>
            <a:ext cx="1579226" cy="63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b="0" i="0" sz="28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b="0" i="0" sz="28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b="0" i="0" sz="28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b="0" i="0" sz="28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b="0" i="0" sz="28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b="0" i="0" sz="28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b="0" i="0" sz="28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b="0" i="0" sz="28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Medium"/>
              <a:buNone/>
              <a:defRPr b="0" i="0" sz="2800" u="none" cap="none" strike="noStrik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40.png"/><Relationship Id="rId6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Relationship Id="rId4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36.png"/><Relationship Id="rId8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bpdemo.rittmananalytics.com" TargetMode="External"/><Relationship Id="rId4" Type="http://schemas.openxmlformats.org/officeDocument/2006/relationships/hyperlink" Target="https://bpdemo-mvp.rittmananalytics.co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Rittman Analytics</a:t>
            </a:r>
            <a:endParaRPr/>
          </a:p>
        </p:txBody>
      </p:sp>
      <p:sp>
        <p:nvSpPr>
          <p:cNvPr id="93" name="Google Shape;93;p19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038388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Analytics consultancy founded in 2018 by Mark Rittman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Based in Brighton, UK with clients in UK, EU and USA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Google Cloud Specialised Data Analytics Partner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Team of 10 Certified Google Cloud consultants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Specialists in Looker, BigQuery GCP stack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5+ Years partnering with Looker, Google Cloud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Cube, Fivetran, Dagster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dbt Labs, Snowflake, Oracle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Segment, Rudderstack, SnowCatCloud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We help high-growth data-rich businesses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Define their data strategy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Modernise their data stack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Centralise their reporting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Scale their approach to data analytics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7125" y="1153750"/>
            <a:ext cx="2405650" cy="24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323" y="1050400"/>
            <a:ext cx="5561375" cy="359534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/>
          <p:nvPr/>
        </p:nvSpPr>
        <p:spPr>
          <a:xfrm>
            <a:off x="0" y="148025"/>
            <a:ext cx="914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Our Team of Experts</a:t>
            </a:r>
            <a:endParaRPr sz="21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789400" y="548875"/>
            <a:ext cx="73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4A3B8"/>
                </a:solidFill>
                <a:highlight>
                  <a:srgbClr val="F9FAFB"/>
                </a:highlight>
                <a:latin typeface="Google Sans"/>
                <a:ea typeface="Google Sans"/>
                <a:cs typeface="Google Sans"/>
                <a:sym typeface="Google Sans"/>
              </a:rPr>
              <a:t>Our team is composed of seasoned data strategists, architects, and analytics engineers with decades of combined experience.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  <p:sp>
        <p:nvSpPr>
          <p:cNvPr id="108" name="Google Shape;108;p21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cxnSp>
        <p:nvCxnSpPr>
          <p:cNvPr id="109" name="Google Shape;109;p21"/>
          <p:cNvCxnSpPr/>
          <p:nvPr/>
        </p:nvCxnSpPr>
        <p:spPr>
          <a:xfrm>
            <a:off x="418050" y="2617575"/>
            <a:ext cx="80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0" name="Google Shape;110;p21"/>
          <p:cNvGrpSpPr/>
          <p:nvPr/>
        </p:nvGrpSpPr>
        <p:grpSpPr>
          <a:xfrm>
            <a:off x="1362900" y="2002575"/>
            <a:ext cx="123000" cy="615000"/>
            <a:chOff x="1436825" y="1868400"/>
            <a:chExt cx="123000" cy="615000"/>
          </a:xfrm>
        </p:grpSpPr>
        <p:cxnSp>
          <p:nvCxnSpPr>
            <p:cNvPr id="111" name="Google Shape;111;p21"/>
            <p:cNvCxnSpPr/>
            <p:nvPr/>
          </p:nvCxnSpPr>
          <p:spPr>
            <a:xfrm rot="10800000">
              <a:off x="1498325" y="1991400"/>
              <a:ext cx="0" cy="49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" name="Google Shape;112;p21"/>
            <p:cNvSpPr/>
            <p:nvPr/>
          </p:nvSpPr>
          <p:spPr>
            <a:xfrm>
              <a:off x="1436825" y="1868400"/>
              <a:ext cx="123000" cy="123000"/>
            </a:xfrm>
            <a:prstGeom prst="ellipse">
              <a:avLst/>
            </a:prstGeom>
            <a:solidFill>
              <a:srgbClr val="4F6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" name="Google Shape;113;p21"/>
          <p:cNvGrpSpPr/>
          <p:nvPr/>
        </p:nvGrpSpPr>
        <p:grpSpPr>
          <a:xfrm>
            <a:off x="4050800" y="2002575"/>
            <a:ext cx="123000" cy="615000"/>
            <a:chOff x="1436825" y="1868400"/>
            <a:chExt cx="123000" cy="615000"/>
          </a:xfrm>
        </p:grpSpPr>
        <p:cxnSp>
          <p:nvCxnSpPr>
            <p:cNvPr id="114" name="Google Shape;114;p21"/>
            <p:cNvCxnSpPr/>
            <p:nvPr/>
          </p:nvCxnSpPr>
          <p:spPr>
            <a:xfrm rot="10800000">
              <a:off x="1498325" y="1991400"/>
              <a:ext cx="0" cy="49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" name="Google Shape;115;p21"/>
            <p:cNvSpPr/>
            <p:nvPr/>
          </p:nvSpPr>
          <p:spPr>
            <a:xfrm>
              <a:off x="1436825" y="1868400"/>
              <a:ext cx="123000" cy="123000"/>
            </a:xfrm>
            <a:prstGeom prst="ellipse">
              <a:avLst/>
            </a:prstGeom>
            <a:solidFill>
              <a:srgbClr val="4F6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" name="Google Shape;116;p21"/>
          <p:cNvGrpSpPr/>
          <p:nvPr/>
        </p:nvGrpSpPr>
        <p:grpSpPr>
          <a:xfrm>
            <a:off x="6738700" y="2002575"/>
            <a:ext cx="123000" cy="615000"/>
            <a:chOff x="1436825" y="1868400"/>
            <a:chExt cx="123000" cy="615000"/>
          </a:xfrm>
        </p:grpSpPr>
        <p:cxnSp>
          <p:nvCxnSpPr>
            <p:cNvPr id="117" name="Google Shape;117;p21"/>
            <p:cNvCxnSpPr/>
            <p:nvPr/>
          </p:nvCxnSpPr>
          <p:spPr>
            <a:xfrm rot="10800000">
              <a:off x="1498325" y="1991400"/>
              <a:ext cx="0" cy="49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8" name="Google Shape;118;p21"/>
            <p:cNvSpPr/>
            <p:nvPr/>
          </p:nvSpPr>
          <p:spPr>
            <a:xfrm>
              <a:off x="1436825" y="1868400"/>
              <a:ext cx="123000" cy="123000"/>
            </a:xfrm>
            <a:prstGeom prst="ellipse">
              <a:avLst/>
            </a:prstGeom>
            <a:solidFill>
              <a:srgbClr val="4F6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21"/>
          <p:cNvGrpSpPr/>
          <p:nvPr/>
        </p:nvGrpSpPr>
        <p:grpSpPr>
          <a:xfrm rot="10800000">
            <a:off x="2635925" y="2617575"/>
            <a:ext cx="123000" cy="615000"/>
            <a:chOff x="1436825" y="1868400"/>
            <a:chExt cx="123000" cy="615000"/>
          </a:xfrm>
        </p:grpSpPr>
        <p:cxnSp>
          <p:nvCxnSpPr>
            <p:cNvPr id="120" name="Google Shape;120;p21"/>
            <p:cNvCxnSpPr/>
            <p:nvPr/>
          </p:nvCxnSpPr>
          <p:spPr>
            <a:xfrm rot="10800000">
              <a:off x="1498325" y="1991400"/>
              <a:ext cx="0" cy="49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1" name="Google Shape;121;p21"/>
            <p:cNvSpPr/>
            <p:nvPr/>
          </p:nvSpPr>
          <p:spPr>
            <a:xfrm>
              <a:off x="1436825" y="1868400"/>
              <a:ext cx="123000" cy="123000"/>
            </a:xfrm>
            <a:prstGeom prst="ellipse">
              <a:avLst/>
            </a:prstGeom>
            <a:solidFill>
              <a:srgbClr val="4F6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" name="Google Shape;122;p21"/>
          <p:cNvGrpSpPr/>
          <p:nvPr/>
        </p:nvGrpSpPr>
        <p:grpSpPr>
          <a:xfrm rot="10800000">
            <a:off x="5348900" y="2617575"/>
            <a:ext cx="123000" cy="615000"/>
            <a:chOff x="1436825" y="1868400"/>
            <a:chExt cx="123000" cy="615000"/>
          </a:xfrm>
        </p:grpSpPr>
        <p:cxnSp>
          <p:nvCxnSpPr>
            <p:cNvPr id="123" name="Google Shape;123;p21"/>
            <p:cNvCxnSpPr/>
            <p:nvPr/>
          </p:nvCxnSpPr>
          <p:spPr>
            <a:xfrm rot="10800000">
              <a:off x="1498325" y="1991400"/>
              <a:ext cx="0" cy="49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" name="Google Shape;124;p21"/>
            <p:cNvSpPr/>
            <p:nvPr/>
          </p:nvSpPr>
          <p:spPr>
            <a:xfrm>
              <a:off x="1436825" y="1868400"/>
              <a:ext cx="123000" cy="123000"/>
            </a:xfrm>
            <a:prstGeom prst="ellipse">
              <a:avLst/>
            </a:prstGeom>
            <a:solidFill>
              <a:srgbClr val="4F6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21"/>
          <p:cNvSpPr txBox="1"/>
          <p:nvPr/>
        </p:nvSpPr>
        <p:spPr>
          <a:xfrm>
            <a:off x="3176600" y="1198575"/>
            <a:ext cx="1900800" cy="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Sprint # 3 : </a:t>
            </a:r>
            <a:r>
              <a:rPr lang="en" sz="1200">
                <a:latin typeface="Helvetica Neue Light"/>
                <a:ea typeface="Helvetica Neue Light"/>
                <a:cs typeface="Helvetica Neue Light"/>
                <a:sym typeface="Helvetica Neue Light"/>
              </a:rPr>
              <a:t>Refinements and evaluation of Power BI features</a:t>
            </a:r>
            <a:endParaRPr sz="12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4618100" y="3310325"/>
            <a:ext cx="1584600" cy="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Sprint # 4 : </a:t>
            </a:r>
            <a:r>
              <a:rPr lang="en" sz="1200">
                <a:latin typeface="Helvetica Neue Light"/>
                <a:ea typeface="Helvetica Neue Light"/>
                <a:cs typeface="Helvetica Neue Light"/>
                <a:sym typeface="Helvetica Neue Light"/>
              </a:rPr>
              <a:t>Mestec Testing and Evaluation </a:t>
            </a:r>
            <a:endParaRPr sz="12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5771350" y="1120813"/>
            <a:ext cx="2057700" cy="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Sprint # 5 : </a:t>
            </a:r>
            <a:r>
              <a:rPr lang="en" sz="1200">
                <a:latin typeface="Helvetica Neue Light"/>
                <a:ea typeface="Helvetica Neue Light"/>
                <a:cs typeface="Helvetica Neue Light"/>
                <a:sym typeface="Helvetica Neue Light"/>
              </a:rPr>
              <a:t>Technical architecture and creation of second semantic model</a:t>
            </a:r>
            <a:endParaRPr sz="12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1747025" y="3310325"/>
            <a:ext cx="1900800" cy="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Sprint # 2 : </a:t>
            </a:r>
            <a:r>
              <a:rPr lang="en" sz="1200">
                <a:latin typeface="Helvetica Neue Light"/>
                <a:ea typeface="Helvetica Neue Light"/>
                <a:cs typeface="Helvetica Neue Light"/>
                <a:sym typeface="Helvetica Neue Light"/>
              </a:rPr>
              <a:t>Data modeling and initial semantic model build</a:t>
            </a:r>
            <a:endParaRPr sz="12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474000" y="1186938"/>
            <a:ext cx="1900800" cy="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 Light"/>
                <a:ea typeface="Helvetica Neue Light"/>
                <a:cs typeface="Helvetica Neue Light"/>
                <a:sym typeface="Helvetica Neue Light"/>
              </a:rPr>
              <a:t>Sprint # 1 : Understand requirements, evaluate BI tool options</a:t>
            </a:r>
            <a:endParaRPr sz="12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1028700" y="2729400"/>
            <a:ext cx="849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 Light"/>
                <a:ea typeface="Helvetica Neue Light"/>
                <a:cs typeface="Helvetica Neue Light"/>
                <a:sym typeface="Helvetica Neue Light"/>
              </a:rPr>
              <a:t>Aug 2023</a:t>
            </a:r>
            <a:endParaRPr sz="12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6391675" y="2729400"/>
            <a:ext cx="849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 Light"/>
                <a:ea typeface="Helvetica Neue Light"/>
                <a:cs typeface="Helvetica Neue Light"/>
                <a:sym typeface="Helvetica Neue Light"/>
              </a:rPr>
              <a:t>Nov 2023 </a:t>
            </a:r>
            <a:endParaRPr sz="12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3710188" y="2729400"/>
            <a:ext cx="849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 Light"/>
                <a:ea typeface="Helvetica Neue Light"/>
                <a:cs typeface="Helvetica Neue Light"/>
                <a:sym typeface="Helvetica Neue Light"/>
              </a:rPr>
              <a:t>Sep 2023 </a:t>
            </a:r>
            <a:endParaRPr sz="12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4985675" y="2258750"/>
            <a:ext cx="849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 Light"/>
                <a:ea typeface="Helvetica Neue Light"/>
                <a:cs typeface="Helvetica Neue Light"/>
                <a:sym typeface="Helvetica Neue Light"/>
              </a:rPr>
              <a:t>Oct 2023 </a:t>
            </a:r>
            <a:endParaRPr sz="12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Semantic Model</a:t>
            </a:r>
            <a:endParaRPr/>
          </a:p>
        </p:txBody>
      </p:sp>
      <p:sp>
        <p:nvSpPr>
          <p:cNvPr id="139" name="Google Shape;139;p22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analytics subject areas</a:t>
            </a:r>
            <a:endParaRPr/>
          </a:p>
        </p:txBody>
      </p:sp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482" y="3233825"/>
            <a:ext cx="4259701" cy="54896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1" name="Google Shape;14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100" y="1168300"/>
            <a:ext cx="4907100" cy="1200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2" name="Google Shape;14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9683" y="883663"/>
            <a:ext cx="3152628" cy="17696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3" name="Google Shape;143;p22"/>
          <p:cNvPicPr preferRelativeResize="0"/>
          <p:nvPr/>
        </p:nvPicPr>
        <p:blipFill rotWithShape="1">
          <a:blip r:embed="rId6">
            <a:alphaModFix/>
          </a:blip>
          <a:srcRect b="29967" l="0" r="0" t="0"/>
          <a:stretch/>
        </p:blipFill>
        <p:spPr>
          <a:xfrm>
            <a:off x="5846625" y="2503825"/>
            <a:ext cx="2818727" cy="1977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44" name="Google Shape;144;p22"/>
          <p:cNvSpPr/>
          <p:nvPr/>
        </p:nvSpPr>
        <p:spPr>
          <a:xfrm>
            <a:off x="3083550" y="2123725"/>
            <a:ext cx="380100" cy="3801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1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622313" y="3110850"/>
            <a:ext cx="380100" cy="3801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2</a:t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5679675" y="2144100"/>
            <a:ext cx="380100" cy="3801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3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47" name="Google Shape;147;p22"/>
          <p:cNvSpPr/>
          <p:nvPr/>
        </p:nvSpPr>
        <p:spPr>
          <a:xfrm>
            <a:off x="7388675" y="3051888"/>
            <a:ext cx="380100" cy="380100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4</a:t>
            </a:r>
            <a:endParaRPr sz="1200">
              <a:solidFill>
                <a:schemeClr val="lt1"/>
              </a:solidFill>
            </a:endParaRPr>
          </a:p>
        </p:txBody>
      </p:sp>
      <p:cxnSp>
        <p:nvCxnSpPr>
          <p:cNvPr id="148" name="Google Shape;148;p22"/>
          <p:cNvCxnSpPr>
            <a:stCxn id="144" idx="5"/>
            <a:endCxn id="145" idx="1"/>
          </p:cNvCxnSpPr>
          <p:nvPr/>
        </p:nvCxnSpPr>
        <p:spPr>
          <a:xfrm>
            <a:off x="3407986" y="2448161"/>
            <a:ext cx="1269900" cy="71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2"/>
          <p:cNvCxnSpPr>
            <a:stCxn id="145" idx="7"/>
            <a:endCxn id="146" idx="3"/>
          </p:cNvCxnSpPr>
          <p:nvPr/>
        </p:nvCxnSpPr>
        <p:spPr>
          <a:xfrm flipH="1" rot="10800000">
            <a:off x="4946748" y="2468414"/>
            <a:ext cx="788700" cy="69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2"/>
          <p:cNvCxnSpPr>
            <a:stCxn id="146" idx="5"/>
            <a:endCxn id="147" idx="1"/>
          </p:cNvCxnSpPr>
          <p:nvPr/>
        </p:nvCxnSpPr>
        <p:spPr>
          <a:xfrm>
            <a:off x="6004111" y="2468536"/>
            <a:ext cx="1440300" cy="6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51" name="Google Shape;151;p22"/>
          <p:cNvSpPr txBox="1"/>
          <p:nvPr/>
        </p:nvSpPr>
        <p:spPr>
          <a:xfrm>
            <a:off x="554600" y="815438"/>
            <a:ext cx="94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725425" y="2833625"/>
            <a:ext cx="94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dbt</a:t>
            </a:r>
            <a:endParaRPr/>
          </a:p>
        </p:txBody>
      </p:sp>
      <p:sp>
        <p:nvSpPr>
          <p:cNvPr id="153" name="Google Shape;153;p22"/>
          <p:cNvSpPr txBox="1"/>
          <p:nvPr/>
        </p:nvSpPr>
        <p:spPr>
          <a:xfrm>
            <a:off x="5679675" y="508675"/>
            <a:ext cx="155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Semantic model</a:t>
            </a:r>
            <a:endParaRPr/>
          </a:p>
        </p:txBody>
      </p:sp>
      <p:sp>
        <p:nvSpPr>
          <p:cNvPr id="154" name="Google Shape;154;p22"/>
          <p:cNvSpPr txBox="1"/>
          <p:nvPr/>
        </p:nvSpPr>
        <p:spPr>
          <a:xfrm>
            <a:off x="4756300" y="4080775"/>
            <a:ext cx="155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output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Desktop: Creating Semantic Models</a:t>
            </a:r>
            <a:endParaRPr/>
          </a:p>
        </p:txBody>
      </p:sp>
      <p:sp>
        <p:nvSpPr>
          <p:cNvPr id="160" name="Google Shape;160;p23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highlight</a:t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 b="201" l="0" r="51189" t="19530"/>
          <a:stretch/>
        </p:blipFill>
        <p:spPr>
          <a:xfrm>
            <a:off x="2753450" y="1889200"/>
            <a:ext cx="2720824" cy="23048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2" name="Google Shape;16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6925" y="2298200"/>
            <a:ext cx="2817701" cy="17765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3" name="Google Shape;163;p23"/>
          <p:cNvPicPr preferRelativeResize="0"/>
          <p:nvPr/>
        </p:nvPicPr>
        <p:blipFill rotWithShape="1">
          <a:blip r:embed="rId3">
            <a:alphaModFix/>
          </a:blip>
          <a:srcRect b="0" l="74925" r="0" t="21513"/>
          <a:stretch/>
        </p:blipFill>
        <p:spPr>
          <a:xfrm>
            <a:off x="767775" y="1394675"/>
            <a:ext cx="1571026" cy="2533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64" name="Google Shape;164;p23"/>
          <p:cNvSpPr/>
          <p:nvPr/>
        </p:nvSpPr>
        <p:spPr>
          <a:xfrm>
            <a:off x="1654875" y="2191650"/>
            <a:ext cx="380100" cy="380100"/>
          </a:xfrm>
          <a:prstGeom prst="ellipse">
            <a:avLst/>
          </a:prstGeom>
          <a:solidFill>
            <a:srgbClr val="F4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65" name="Google Shape;165;p23"/>
          <p:cNvSpPr/>
          <p:nvPr/>
        </p:nvSpPr>
        <p:spPr>
          <a:xfrm>
            <a:off x="3790150" y="2090600"/>
            <a:ext cx="380100" cy="380100"/>
          </a:xfrm>
          <a:prstGeom prst="ellipse">
            <a:avLst/>
          </a:prstGeom>
          <a:solidFill>
            <a:srgbClr val="F4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6231025" y="3390975"/>
            <a:ext cx="380100" cy="380100"/>
          </a:xfrm>
          <a:prstGeom prst="ellipse">
            <a:avLst/>
          </a:prstGeom>
          <a:solidFill>
            <a:srgbClr val="F4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cxnSp>
        <p:nvCxnSpPr>
          <p:cNvPr id="167" name="Google Shape;167;p23"/>
          <p:cNvCxnSpPr>
            <a:stCxn id="164" idx="5"/>
            <a:endCxn id="165" idx="2"/>
          </p:cNvCxnSpPr>
          <p:nvPr/>
        </p:nvCxnSpPr>
        <p:spPr>
          <a:xfrm flipH="1" rot="10800000">
            <a:off x="1979311" y="2280586"/>
            <a:ext cx="1810800" cy="23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" name="Google Shape;168;p23"/>
          <p:cNvCxnSpPr>
            <a:stCxn id="165" idx="6"/>
            <a:endCxn id="166" idx="2"/>
          </p:cNvCxnSpPr>
          <p:nvPr/>
        </p:nvCxnSpPr>
        <p:spPr>
          <a:xfrm>
            <a:off x="4170250" y="2280650"/>
            <a:ext cx="2060700" cy="13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9" name="Google Shape;169;p23"/>
          <p:cNvSpPr txBox="1"/>
          <p:nvPr/>
        </p:nvSpPr>
        <p:spPr>
          <a:xfrm>
            <a:off x="894550" y="2708600"/>
            <a:ext cx="15711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Import table / MV metadata and create based model</a:t>
            </a:r>
            <a:endParaRPr sz="1200"/>
          </a:p>
        </p:txBody>
      </p:sp>
      <p:sp>
        <p:nvSpPr>
          <p:cNvPr id="170" name="Google Shape;170;p23"/>
          <p:cNvSpPr txBox="1"/>
          <p:nvPr/>
        </p:nvSpPr>
        <p:spPr>
          <a:xfrm>
            <a:off x="3328313" y="1021838"/>
            <a:ext cx="15711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Join tables, creating aliases for dimensions used multiple times</a:t>
            </a:r>
            <a:endParaRPr sz="1200"/>
          </a:p>
        </p:txBody>
      </p:sp>
      <p:sp>
        <p:nvSpPr>
          <p:cNvPr id="171" name="Google Shape;171;p23"/>
          <p:cNvSpPr txBox="1"/>
          <p:nvPr/>
        </p:nvSpPr>
        <p:spPr>
          <a:xfrm>
            <a:off x="6954022" y="2470697"/>
            <a:ext cx="1238400" cy="73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Publish to Power BI Server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Reports from multiple semantic models</a:t>
            </a:r>
            <a:endParaRPr/>
          </a:p>
        </p:txBody>
      </p:sp>
      <p:sp>
        <p:nvSpPr>
          <p:cNvPr id="177" name="Google Shape;177;p24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Demo highlight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0125" y="1585200"/>
            <a:ext cx="5145051" cy="28472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79" name="Google Shape;17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525" y="1016200"/>
            <a:ext cx="4288374" cy="2532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80" name="Google Shape;180;p24"/>
          <p:cNvSpPr txBox="1"/>
          <p:nvPr/>
        </p:nvSpPr>
        <p:spPr>
          <a:xfrm>
            <a:off x="395900" y="3948950"/>
            <a:ext cx="301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Re-use of conformed dimensions</a:t>
            </a:r>
            <a:endParaRPr/>
          </a:p>
        </p:txBody>
      </p:sp>
      <p:cxnSp>
        <p:nvCxnSpPr>
          <p:cNvPr id="181" name="Google Shape;181;p24"/>
          <p:cNvCxnSpPr>
            <a:stCxn id="180" idx="0"/>
          </p:cNvCxnSpPr>
          <p:nvPr/>
        </p:nvCxnSpPr>
        <p:spPr>
          <a:xfrm rot="10800000">
            <a:off x="1365800" y="2325650"/>
            <a:ext cx="538500" cy="162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24"/>
          <p:cNvCxnSpPr>
            <a:stCxn id="180" idx="0"/>
          </p:cNvCxnSpPr>
          <p:nvPr/>
        </p:nvCxnSpPr>
        <p:spPr>
          <a:xfrm rot="10800000">
            <a:off x="1825700" y="3227450"/>
            <a:ext cx="78600" cy="72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24"/>
          <p:cNvCxnSpPr>
            <a:stCxn id="180" idx="3"/>
          </p:cNvCxnSpPr>
          <p:nvPr/>
        </p:nvCxnSpPr>
        <p:spPr>
          <a:xfrm flipH="1" rot="10800000">
            <a:off x="3412700" y="3867650"/>
            <a:ext cx="2867700" cy="28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311700" y="336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 to Initial Pilot with 2 Semantic Models</a:t>
            </a:r>
            <a:endParaRPr/>
          </a:p>
        </p:txBody>
      </p:sp>
      <p:sp>
        <p:nvSpPr>
          <p:cNvPr id="189" name="Google Shape;189;p25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Product development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350" y="1205275"/>
            <a:ext cx="497638" cy="50452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5"/>
          <p:cNvSpPr txBox="1"/>
          <p:nvPr/>
        </p:nvSpPr>
        <p:spPr>
          <a:xfrm>
            <a:off x="1315175" y="1686513"/>
            <a:ext cx="19662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Clear technical debt </a:t>
            </a:r>
            <a:br>
              <a:rPr lang="en"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"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from PoC</a:t>
            </a:r>
            <a:endParaRPr sz="1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3100171" y="1652675"/>
            <a:ext cx="16977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Configure to support</a:t>
            </a:r>
            <a:br>
              <a:rPr lang="en"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"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multi-tenancy</a:t>
            </a:r>
            <a:endParaRPr sz="1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93" name="Google Shape;19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7050" y="1228546"/>
            <a:ext cx="457976" cy="4579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/>
          <p:nvPr/>
        </p:nvSpPr>
        <p:spPr>
          <a:xfrm>
            <a:off x="4872925" y="1662675"/>
            <a:ext cx="1779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Implement scheduler &amp; run-time environment</a:t>
            </a:r>
            <a:endParaRPr sz="1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95" name="Google Shape;19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2425" y="1228521"/>
            <a:ext cx="457975" cy="457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49628" y="2383527"/>
            <a:ext cx="516168" cy="51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52890" y="2389245"/>
            <a:ext cx="497650" cy="504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1314" y="2392548"/>
            <a:ext cx="497650" cy="4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 txBox="1"/>
          <p:nvPr/>
        </p:nvSpPr>
        <p:spPr>
          <a:xfrm>
            <a:off x="3478914" y="2890225"/>
            <a:ext cx="14994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Identify Pilot customers</a:t>
            </a:r>
            <a:endParaRPr sz="1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5649002" y="2841463"/>
            <a:ext cx="14994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Run enablement workshop</a:t>
            </a:r>
            <a:endParaRPr sz="1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7466500" y="2841475"/>
            <a:ext cx="1179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Roll-out to Pilot customers</a:t>
            </a:r>
            <a:endParaRPr sz="1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2495375" y="4274200"/>
            <a:ext cx="191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Update Upgrade processes</a:t>
            </a:r>
            <a:endParaRPr sz="1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203" name="Google Shape;203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372" y="3611487"/>
            <a:ext cx="610676" cy="61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58652" y="3667998"/>
            <a:ext cx="497650" cy="4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5"/>
          <p:cNvSpPr txBox="1"/>
          <p:nvPr/>
        </p:nvSpPr>
        <p:spPr>
          <a:xfrm>
            <a:off x="4471702" y="4236275"/>
            <a:ext cx="14994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Enable Mestec IT Team</a:t>
            </a:r>
            <a:endParaRPr sz="1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>
            <a:off x="6267775" y="4209675"/>
            <a:ext cx="207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Create devops processes</a:t>
            </a:r>
            <a:endParaRPr sz="1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207" name="Google Shape;207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64625" y="3701579"/>
            <a:ext cx="427350" cy="43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25"/>
          <p:cNvCxnSpPr>
            <a:stCxn id="190" idx="3"/>
            <a:endCxn id="193" idx="1"/>
          </p:cNvCxnSpPr>
          <p:nvPr/>
        </p:nvCxnSpPr>
        <p:spPr>
          <a:xfrm>
            <a:off x="1865988" y="1457537"/>
            <a:ext cx="130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5"/>
          <p:cNvCxnSpPr>
            <a:stCxn id="193" idx="3"/>
            <a:endCxn id="195" idx="1"/>
          </p:cNvCxnSpPr>
          <p:nvPr/>
        </p:nvCxnSpPr>
        <p:spPr>
          <a:xfrm>
            <a:off x="3625027" y="1457534"/>
            <a:ext cx="136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25"/>
          <p:cNvCxnSpPr>
            <a:stCxn id="196" idx="3"/>
            <a:endCxn id="198" idx="1"/>
          </p:cNvCxnSpPr>
          <p:nvPr/>
        </p:nvCxnSpPr>
        <p:spPr>
          <a:xfrm>
            <a:off x="4065796" y="2641377"/>
            <a:ext cx="164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5"/>
          <p:cNvCxnSpPr>
            <a:stCxn id="203" idx="3"/>
            <a:endCxn id="204" idx="1"/>
          </p:cNvCxnSpPr>
          <p:nvPr/>
        </p:nvCxnSpPr>
        <p:spPr>
          <a:xfrm>
            <a:off x="3167048" y="3916825"/>
            <a:ext cx="139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25"/>
          <p:cNvCxnSpPr>
            <a:stCxn id="204" idx="3"/>
            <a:endCxn id="207" idx="1"/>
          </p:cNvCxnSpPr>
          <p:nvPr/>
        </p:nvCxnSpPr>
        <p:spPr>
          <a:xfrm>
            <a:off x="5056302" y="3916823"/>
            <a:ext cx="130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25"/>
          <p:cNvCxnSpPr>
            <a:stCxn id="198" idx="3"/>
            <a:endCxn id="197" idx="1"/>
          </p:cNvCxnSpPr>
          <p:nvPr/>
        </p:nvCxnSpPr>
        <p:spPr>
          <a:xfrm>
            <a:off x="6208964" y="2641373"/>
            <a:ext cx="13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25"/>
          <p:cNvCxnSpPr>
            <a:stCxn id="207" idx="3"/>
            <a:endCxn id="197" idx="1"/>
          </p:cNvCxnSpPr>
          <p:nvPr/>
        </p:nvCxnSpPr>
        <p:spPr>
          <a:xfrm flipH="1" rot="10800000">
            <a:off x="6791975" y="2641229"/>
            <a:ext cx="760800" cy="12756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5"/>
          <p:cNvCxnSpPr>
            <a:endCxn id="197" idx="1"/>
          </p:cNvCxnSpPr>
          <p:nvPr/>
        </p:nvCxnSpPr>
        <p:spPr>
          <a:xfrm>
            <a:off x="5450490" y="1457573"/>
            <a:ext cx="2102400" cy="1183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16" name="Google Shape;216;p25"/>
          <p:cNvSpPr txBox="1"/>
          <p:nvPr/>
        </p:nvSpPr>
        <p:spPr>
          <a:xfrm>
            <a:off x="290675" y="1144375"/>
            <a:ext cx="10509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 / PoC Team</a:t>
            </a:r>
            <a:b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Tasks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264275" y="2244325"/>
            <a:ext cx="10509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Mestec Customer Team Tasks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264275" y="3625975"/>
            <a:ext cx="10509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Mestec IT Team Tasks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Mestec Upgrades and Impact on Semantic Models</a:t>
            </a:r>
            <a:endParaRPr/>
          </a:p>
        </p:txBody>
      </p:sp>
      <p:sp>
        <p:nvSpPr>
          <p:cNvPr id="224" name="Google Shape;224;p26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726800" y="1566525"/>
            <a:ext cx="1923300" cy="294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Mestec Environment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961625" y="2430775"/>
            <a:ext cx="1431300" cy="5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Application Code v10.1</a:t>
            </a:r>
            <a:endParaRPr sz="1100"/>
          </a:p>
        </p:txBody>
      </p:sp>
      <p:sp>
        <p:nvSpPr>
          <p:cNvPr id="227" name="Google Shape;227;p26"/>
          <p:cNvSpPr/>
          <p:nvPr/>
        </p:nvSpPr>
        <p:spPr>
          <a:xfrm>
            <a:off x="972800" y="3239650"/>
            <a:ext cx="1431300" cy="10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PBI Workspace</a:t>
            </a:r>
            <a:br>
              <a:rPr lang="en" sz="1100"/>
            </a:br>
            <a:br>
              <a:rPr lang="en" sz="1100"/>
            </a:br>
            <a:r>
              <a:rPr lang="en" sz="1100"/>
              <a:t>metrics_report.pbix</a:t>
            </a:r>
            <a:br>
              <a:rPr lang="en" sz="1100"/>
            </a:br>
            <a:r>
              <a:rPr lang="en" sz="1100"/>
              <a:t>data_model.pbix</a:t>
            </a:r>
            <a:br>
              <a:rPr lang="en" sz="1100"/>
            </a:br>
            <a:endParaRPr sz="1100"/>
          </a:p>
        </p:txBody>
      </p:sp>
      <p:sp>
        <p:nvSpPr>
          <p:cNvPr id="228" name="Google Shape;228;p26"/>
          <p:cNvSpPr/>
          <p:nvPr/>
        </p:nvSpPr>
        <p:spPr>
          <a:xfrm>
            <a:off x="5418875" y="1566525"/>
            <a:ext cx="1923300" cy="294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Mestec Environment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6"/>
          <p:cNvSpPr/>
          <p:nvPr/>
        </p:nvSpPr>
        <p:spPr>
          <a:xfrm>
            <a:off x="5653700" y="2430775"/>
            <a:ext cx="1431300" cy="5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Application Code v10.2</a:t>
            </a:r>
            <a:endParaRPr sz="1100"/>
          </a:p>
        </p:txBody>
      </p:sp>
      <p:sp>
        <p:nvSpPr>
          <p:cNvPr id="230" name="Google Shape;230;p26"/>
          <p:cNvSpPr/>
          <p:nvPr/>
        </p:nvSpPr>
        <p:spPr>
          <a:xfrm>
            <a:off x="5664875" y="3239650"/>
            <a:ext cx="1431300" cy="10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1100"/>
            </a:br>
            <a:r>
              <a:rPr lang="en" sz="1100"/>
              <a:t>PBI Workspace</a:t>
            </a:r>
            <a:br>
              <a:rPr lang="en" sz="1100"/>
            </a:br>
            <a:br>
              <a:rPr lang="en" sz="1100"/>
            </a:br>
            <a:r>
              <a:rPr lang="en" sz="1100"/>
              <a:t>metrics_report.pbix</a:t>
            </a:r>
            <a:br>
              <a:rPr lang="en" sz="1100"/>
            </a:br>
            <a:r>
              <a:rPr lang="en" sz="1100"/>
              <a:t>Data_model.pbix</a:t>
            </a:r>
            <a:br>
              <a:rPr lang="en" sz="1100"/>
            </a:br>
            <a:r>
              <a:rPr lang="en" sz="1100"/>
              <a:t>custom_report</a:t>
            </a:r>
            <a:br>
              <a:rPr lang="en" sz="1100"/>
            </a:br>
            <a:endParaRPr sz="1100"/>
          </a:p>
        </p:txBody>
      </p:sp>
      <p:sp>
        <p:nvSpPr>
          <p:cNvPr id="231" name="Google Shape;231;p26"/>
          <p:cNvSpPr/>
          <p:nvPr/>
        </p:nvSpPr>
        <p:spPr>
          <a:xfrm>
            <a:off x="3275000" y="1488250"/>
            <a:ext cx="1753800" cy="1002300"/>
          </a:xfrm>
          <a:prstGeom prst="wedgeRectCallout">
            <a:avLst>
              <a:gd fmla="val -19329" name="adj1"/>
              <a:gd fmla="val 55981" name="adj2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All Customers get the same application code for a given release version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32" name="Google Shape;232;p26"/>
          <p:cNvSpPr txBox="1"/>
          <p:nvPr/>
        </p:nvSpPr>
        <p:spPr>
          <a:xfrm>
            <a:off x="742775" y="1088050"/>
            <a:ext cx="18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Before Upgrade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3" name="Google Shape;233;p26"/>
          <p:cNvSpPr txBox="1"/>
          <p:nvPr/>
        </p:nvSpPr>
        <p:spPr>
          <a:xfrm>
            <a:off x="5434850" y="1088050"/>
            <a:ext cx="18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After Upgrade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34" name="Google Shape;234;p26"/>
          <p:cNvCxnSpPr>
            <a:stCxn id="226" idx="3"/>
            <a:endCxn id="229" idx="1"/>
          </p:cNvCxnSpPr>
          <p:nvPr/>
        </p:nvCxnSpPr>
        <p:spPr>
          <a:xfrm>
            <a:off x="2392925" y="2717125"/>
            <a:ext cx="326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6"/>
          <p:cNvCxnSpPr>
            <a:stCxn id="227" idx="3"/>
            <a:endCxn id="230" idx="1"/>
          </p:cNvCxnSpPr>
          <p:nvPr/>
        </p:nvCxnSpPr>
        <p:spPr>
          <a:xfrm>
            <a:off x="2404100" y="3784000"/>
            <a:ext cx="326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36" name="Google Shape;236;p26"/>
          <p:cNvSpPr/>
          <p:nvPr/>
        </p:nvSpPr>
        <p:spPr>
          <a:xfrm>
            <a:off x="2773025" y="2849150"/>
            <a:ext cx="2661900" cy="802800"/>
          </a:xfrm>
          <a:prstGeom prst="wedgeRectCallout">
            <a:avLst>
              <a:gd fmla="val -19329" name="adj1"/>
              <a:gd fmla="val 55981" name="adj2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Standard workspace reports and data models replaced with versions compatible with app version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7462925" y="2282125"/>
            <a:ext cx="1369500" cy="2092500"/>
          </a:xfrm>
          <a:prstGeom prst="wedgeRectCallout">
            <a:avLst>
              <a:gd fmla="val -68317" name="adj1"/>
              <a:gd fmla="val 34430" name="adj2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Custom reports are not updated or deleted during upgrade (with Mestec responsible for updating them to maintain version compatibility, or the customer?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/>
          <p:nvPr>
            <p:ph idx="1" type="body"/>
          </p:nvPr>
        </p:nvSpPr>
        <p:spPr>
          <a:xfrm>
            <a:off x="311700" y="1038450"/>
            <a:ext cx="3227100" cy="38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As part of the </a:t>
            </a:r>
            <a:r>
              <a:rPr b="1" lang="en" sz="1200">
                <a:latin typeface="Helvetica Neue"/>
                <a:ea typeface="Helvetica Neue"/>
                <a:cs typeface="Helvetica Neue"/>
                <a:sym typeface="Helvetica Neue"/>
              </a:rPr>
              <a:t>regular release cycle</a:t>
            </a:r>
            <a:r>
              <a:rPr lang="en" sz="1200"/>
              <a:t>, we would aim to make changes or additions to the </a:t>
            </a:r>
            <a:r>
              <a:rPr b="1" lang="en" sz="1200">
                <a:latin typeface="Helvetica Neue"/>
                <a:ea typeface="Helvetica Neue"/>
                <a:cs typeface="Helvetica Neue"/>
                <a:sym typeface="Helvetica Neue"/>
              </a:rPr>
              <a:t>BI product</a:t>
            </a:r>
            <a:r>
              <a:rPr lang="en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The best way to do this would be treating is as a </a:t>
            </a:r>
            <a:r>
              <a:rPr b="1" lang="en" sz="1200">
                <a:latin typeface="Helvetica Neue"/>
                <a:ea typeface="Helvetica Neue"/>
                <a:cs typeface="Helvetica Neue"/>
                <a:sym typeface="Helvetica Neue"/>
              </a:rPr>
              <a:t>software product</a:t>
            </a:r>
            <a:r>
              <a:rPr lang="en" sz="1200"/>
              <a:t>. Over a set interval of time, releases are </a:t>
            </a:r>
            <a:r>
              <a:rPr b="1" lang="en" sz="1200">
                <a:latin typeface="Helvetica Neue"/>
                <a:ea typeface="Helvetica Neue"/>
                <a:cs typeface="Helvetica Neue"/>
                <a:sym typeface="Helvetica Neue"/>
              </a:rPr>
              <a:t>developed, tested</a:t>
            </a:r>
            <a:r>
              <a:rPr lang="en" sz="1200"/>
              <a:t> and then </a:t>
            </a:r>
            <a:r>
              <a:rPr b="1" lang="en" sz="1200">
                <a:latin typeface="Helvetica Neue"/>
                <a:ea typeface="Helvetica Neue"/>
                <a:cs typeface="Helvetica Neue"/>
                <a:sym typeface="Helvetica Neue"/>
              </a:rPr>
              <a:t>published</a:t>
            </a:r>
            <a:r>
              <a:rPr lang="en" sz="1200"/>
              <a:t>. The focus of each release will be around a theme e.g. subject area or performance improvements, etc.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" sz="1200"/>
              <a:t>The priority and timeline here is illustrative; priorities to be</a:t>
            </a:r>
            <a:r>
              <a:rPr b="1" lang="en" sz="1200">
                <a:latin typeface="Helvetica Neue"/>
                <a:ea typeface="Helvetica Neue"/>
                <a:cs typeface="Helvetica Neue"/>
                <a:sym typeface="Helvetica Neue"/>
              </a:rPr>
              <a:t> clarified through requirements gathering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"/>
          <p:cNvSpPr txBox="1"/>
          <p:nvPr>
            <p:ph type="title"/>
          </p:nvPr>
        </p:nvSpPr>
        <p:spPr>
          <a:xfrm>
            <a:off x="311700" y="336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BI product development</a:t>
            </a:r>
            <a:endParaRPr/>
          </a:p>
        </p:txBody>
      </p:sp>
      <p:sp>
        <p:nvSpPr>
          <p:cNvPr id="244" name="Google Shape;244;p27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Product development </a:t>
            </a:r>
            <a:endParaRPr/>
          </a:p>
        </p:txBody>
      </p:sp>
      <p:sp>
        <p:nvSpPr>
          <p:cNvPr id="245" name="Google Shape;245;p27"/>
          <p:cNvSpPr txBox="1"/>
          <p:nvPr/>
        </p:nvSpPr>
        <p:spPr>
          <a:xfrm>
            <a:off x="6719195" y="908875"/>
            <a:ext cx="10719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Tasks / Visits</a:t>
            </a:r>
            <a:endParaRPr sz="1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46" name="Google Shape;246;p27"/>
          <p:cNvSpPr txBox="1"/>
          <p:nvPr/>
        </p:nvSpPr>
        <p:spPr>
          <a:xfrm>
            <a:off x="6719191" y="1201150"/>
            <a:ext cx="16656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Task: The journey of a material item through a workflow</a:t>
            </a:r>
            <a:br>
              <a:rPr lang="en" sz="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" sz="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Visit: Material item’s visit to a node in a workflow.</a:t>
            </a:r>
            <a:endParaRPr sz="7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47" name="Google Shape;247;p27"/>
          <p:cNvSpPr txBox="1"/>
          <p:nvPr/>
        </p:nvSpPr>
        <p:spPr>
          <a:xfrm>
            <a:off x="5268291" y="1266389"/>
            <a:ext cx="6657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Month n</a:t>
            </a:r>
            <a:endParaRPr sz="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3751702" y="1994763"/>
            <a:ext cx="15927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Performed Activities </a:t>
            </a:r>
            <a:endParaRPr sz="1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49" name="Google Shape;249;p27"/>
          <p:cNvSpPr txBox="1"/>
          <p:nvPr/>
        </p:nvSpPr>
        <p:spPr>
          <a:xfrm>
            <a:off x="3751702" y="2270763"/>
            <a:ext cx="18147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This table was joined into the attendances and recoveries model, but it hasn’t been properly considered / designed on its own</a:t>
            </a:r>
            <a:endParaRPr sz="7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0" name="Google Shape;250;p27"/>
          <p:cNvSpPr txBox="1"/>
          <p:nvPr/>
        </p:nvSpPr>
        <p:spPr>
          <a:xfrm>
            <a:off x="6058891" y="1996999"/>
            <a:ext cx="6657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Month n+1 </a:t>
            </a:r>
            <a:endParaRPr sz="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3751702" y="3731275"/>
            <a:ext cx="18723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Performance Optimization</a:t>
            </a:r>
            <a:endParaRPr sz="1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2" name="Google Shape;252;p27"/>
          <p:cNvSpPr txBox="1"/>
          <p:nvPr/>
        </p:nvSpPr>
        <p:spPr>
          <a:xfrm>
            <a:off x="3754052" y="3960750"/>
            <a:ext cx="16359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Decreasing query response time</a:t>
            </a:r>
            <a:endParaRPr sz="7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3" name="Google Shape;253;p27"/>
          <p:cNvSpPr txBox="1"/>
          <p:nvPr/>
        </p:nvSpPr>
        <p:spPr>
          <a:xfrm>
            <a:off x="6058891" y="3725843"/>
            <a:ext cx="6657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Month n+3</a:t>
            </a:r>
            <a:endParaRPr sz="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4" name="Google Shape;254;p27"/>
          <p:cNvSpPr txBox="1"/>
          <p:nvPr/>
        </p:nvSpPr>
        <p:spPr>
          <a:xfrm>
            <a:off x="6719191" y="2913025"/>
            <a:ext cx="12276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User History</a:t>
            </a:r>
            <a:endParaRPr sz="1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5" name="Google Shape;255;p27"/>
          <p:cNvSpPr txBox="1"/>
          <p:nvPr/>
        </p:nvSpPr>
        <p:spPr>
          <a:xfrm>
            <a:off x="6719191" y="3149125"/>
            <a:ext cx="18723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Including the default team for the user at the time of the fact record rather than using the most recent value.</a:t>
            </a:r>
            <a:endParaRPr sz="7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6" name="Google Shape;256;p27"/>
          <p:cNvSpPr txBox="1"/>
          <p:nvPr/>
        </p:nvSpPr>
        <p:spPr>
          <a:xfrm>
            <a:off x="5268291" y="2942372"/>
            <a:ext cx="6657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Month n+2</a:t>
            </a:r>
            <a:endParaRPr sz="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257" name="Google Shape;257;p27"/>
          <p:cNvCxnSpPr/>
          <p:nvPr/>
        </p:nvCxnSpPr>
        <p:spPr>
          <a:xfrm>
            <a:off x="6058900" y="1093675"/>
            <a:ext cx="0" cy="33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58" name="Google Shape;258;p27"/>
          <p:cNvGrpSpPr/>
          <p:nvPr/>
        </p:nvGrpSpPr>
        <p:grpSpPr>
          <a:xfrm rot="5400000">
            <a:off x="6304900" y="1099000"/>
            <a:ext cx="123000" cy="615000"/>
            <a:chOff x="1436825" y="1868400"/>
            <a:chExt cx="123000" cy="615000"/>
          </a:xfrm>
        </p:grpSpPr>
        <p:cxnSp>
          <p:nvCxnSpPr>
            <p:cNvPr id="259" name="Google Shape;259;p27"/>
            <p:cNvCxnSpPr/>
            <p:nvPr/>
          </p:nvCxnSpPr>
          <p:spPr>
            <a:xfrm rot="10800000">
              <a:off x="1498325" y="1991400"/>
              <a:ext cx="0" cy="49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0" name="Google Shape;260;p27"/>
            <p:cNvSpPr/>
            <p:nvPr/>
          </p:nvSpPr>
          <p:spPr>
            <a:xfrm>
              <a:off x="1436825" y="1868400"/>
              <a:ext cx="123000" cy="123000"/>
            </a:xfrm>
            <a:prstGeom prst="ellipse">
              <a:avLst/>
            </a:prstGeom>
            <a:solidFill>
              <a:srgbClr val="4F6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" name="Google Shape;261;p27"/>
          <p:cNvGrpSpPr/>
          <p:nvPr/>
        </p:nvGrpSpPr>
        <p:grpSpPr>
          <a:xfrm rot="-5400000">
            <a:off x="5689900" y="1852350"/>
            <a:ext cx="123000" cy="615000"/>
            <a:chOff x="1436825" y="1868400"/>
            <a:chExt cx="123000" cy="615000"/>
          </a:xfrm>
        </p:grpSpPr>
        <p:cxnSp>
          <p:nvCxnSpPr>
            <p:cNvPr id="262" name="Google Shape;262;p27"/>
            <p:cNvCxnSpPr/>
            <p:nvPr/>
          </p:nvCxnSpPr>
          <p:spPr>
            <a:xfrm rot="10800000">
              <a:off x="1498325" y="1991400"/>
              <a:ext cx="0" cy="49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3" name="Google Shape;263;p27"/>
            <p:cNvSpPr/>
            <p:nvPr/>
          </p:nvSpPr>
          <p:spPr>
            <a:xfrm>
              <a:off x="1436825" y="1868400"/>
              <a:ext cx="123000" cy="123000"/>
            </a:xfrm>
            <a:prstGeom prst="ellipse">
              <a:avLst/>
            </a:prstGeom>
            <a:solidFill>
              <a:srgbClr val="4F6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" name="Google Shape;264;p27"/>
          <p:cNvGrpSpPr/>
          <p:nvPr/>
        </p:nvGrpSpPr>
        <p:grpSpPr>
          <a:xfrm rot="5400000">
            <a:off x="6309588" y="2806613"/>
            <a:ext cx="123000" cy="615000"/>
            <a:chOff x="1436825" y="1868400"/>
            <a:chExt cx="123000" cy="615000"/>
          </a:xfrm>
        </p:grpSpPr>
        <p:cxnSp>
          <p:nvCxnSpPr>
            <p:cNvPr id="265" name="Google Shape;265;p27"/>
            <p:cNvCxnSpPr/>
            <p:nvPr/>
          </p:nvCxnSpPr>
          <p:spPr>
            <a:xfrm rot="10800000">
              <a:off x="1498325" y="1991400"/>
              <a:ext cx="0" cy="49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6" name="Google Shape;266;p27"/>
            <p:cNvSpPr/>
            <p:nvPr/>
          </p:nvSpPr>
          <p:spPr>
            <a:xfrm>
              <a:off x="1436825" y="1868400"/>
              <a:ext cx="123000" cy="123000"/>
            </a:xfrm>
            <a:prstGeom prst="ellipse">
              <a:avLst/>
            </a:prstGeom>
            <a:solidFill>
              <a:srgbClr val="4F6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" name="Google Shape;267;p27"/>
          <p:cNvGrpSpPr/>
          <p:nvPr/>
        </p:nvGrpSpPr>
        <p:grpSpPr>
          <a:xfrm rot="-5400000">
            <a:off x="5689900" y="3591750"/>
            <a:ext cx="123000" cy="615000"/>
            <a:chOff x="1436825" y="1868400"/>
            <a:chExt cx="123000" cy="615000"/>
          </a:xfrm>
        </p:grpSpPr>
        <p:cxnSp>
          <p:nvCxnSpPr>
            <p:cNvPr id="268" name="Google Shape;268;p27"/>
            <p:cNvCxnSpPr/>
            <p:nvPr/>
          </p:nvCxnSpPr>
          <p:spPr>
            <a:xfrm rot="10800000">
              <a:off x="1498325" y="1991400"/>
              <a:ext cx="0" cy="49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9" name="Google Shape;269;p27"/>
            <p:cNvSpPr/>
            <p:nvPr/>
          </p:nvSpPr>
          <p:spPr>
            <a:xfrm>
              <a:off x="1436825" y="1868400"/>
              <a:ext cx="123000" cy="123000"/>
            </a:xfrm>
            <a:prstGeom prst="ellipse">
              <a:avLst/>
            </a:prstGeom>
            <a:solidFill>
              <a:srgbClr val="4F6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/>
          <p:nvPr>
            <p:ph type="title"/>
          </p:nvPr>
        </p:nvSpPr>
        <p:spPr>
          <a:xfrm>
            <a:off x="311700" y="336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Recommended Team Structure going Forward</a:t>
            </a:r>
            <a:endParaRPr/>
          </a:p>
        </p:txBody>
      </p:sp>
      <p:sp>
        <p:nvSpPr>
          <p:cNvPr id="275" name="Google Shape;275;p28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OPPORTUNITIES AND NEEDS</a:t>
            </a:r>
            <a:endParaRPr/>
          </a:p>
        </p:txBody>
      </p:sp>
      <p:sp>
        <p:nvSpPr>
          <p:cNvPr id="276" name="Google Shape;276;p28"/>
          <p:cNvSpPr/>
          <p:nvPr/>
        </p:nvSpPr>
        <p:spPr>
          <a:xfrm>
            <a:off x="3738750" y="2511363"/>
            <a:ext cx="1210200" cy="572700"/>
          </a:xfrm>
          <a:prstGeom prst="rect">
            <a:avLst/>
          </a:prstGeom>
          <a:solidFill>
            <a:srgbClr val="4F6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Technical Lead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3010150" y="3818163"/>
            <a:ext cx="1210200" cy="5727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Business Analyst</a:t>
            </a:r>
            <a:endParaRPr sz="1200"/>
          </a:p>
        </p:txBody>
      </p:sp>
      <p:sp>
        <p:nvSpPr>
          <p:cNvPr id="278" name="Google Shape;278;p28"/>
          <p:cNvSpPr/>
          <p:nvPr/>
        </p:nvSpPr>
        <p:spPr>
          <a:xfrm>
            <a:off x="3738750" y="1043988"/>
            <a:ext cx="1210200" cy="5727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Product Manager</a:t>
            </a:r>
            <a:endParaRPr sz="1200"/>
          </a:p>
        </p:txBody>
      </p:sp>
      <p:cxnSp>
        <p:nvCxnSpPr>
          <p:cNvPr id="279" name="Google Shape;279;p28"/>
          <p:cNvCxnSpPr>
            <a:stCxn id="278" idx="2"/>
            <a:endCxn id="276" idx="0"/>
          </p:cNvCxnSpPr>
          <p:nvPr/>
        </p:nvCxnSpPr>
        <p:spPr>
          <a:xfrm>
            <a:off x="4343850" y="1616688"/>
            <a:ext cx="0" cy="894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" name="Google Shape;280;p28"/>
          <p:cNvCxnSpPr>
            <a:stCxn id="276" idx="2"/>
            <a:endCxn id="277" idx="0"/>
          </p:cNvCxnSpPr>
          <p:nvPr/>
        </p:nvCxnSpPr>
        <p:spPr>
          <a:xfrm rot="5400000">
            <a:off x="3612450" y="3086763"/>
            <a:ext cx="734100" cy="728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" name="Google Shape;281;p28"/>
          <p:cNvCxnSpPr>
            <a:stCxn id="276" idx="2"/>
            <a:endCxn id="282" idx="0"/>
          </p:cNvCxnSpPr>
          <p:nvPr/>
        </p:nvCxnSpPr>
        <p:spPr>
          <a:xfrm flipH="1" rot="-5400000">
            <a:off x="4346250" y="3081663"/>
            <a:ext cx="734100" cy="738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" name="Google Shape;283;p28"/>
          <p:cNvSpPr/>
          <p:nvPr/>
        </p:nvSpPr>
        <p:spPr>
          <a:xfrm>
            <a:off x="1783500" y="2716675"/>
            <a:ext cx="1080300" cy="525000"/>
          </a:xfrm>
          <a:prstGeom prst="rect">
            <a:avLst/>
          </a:prstGeom>
          <a:solidFill>
            <a:srgbClr val="4F6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Project Manager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4" name="Google Shape;284;p28"/>
          <p:cNvCxnSpPr/>
          <p:nvPr/>
        </p:nvCxnSpPr>
        <p:spPr>
          <a:xfrm flipH="1" rot="10800000">
            <a:off x="2952525" y="2799050"/>
            <a:ext cx="646800" cy="161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85" name="Google Shape;285;p28"/>
          <p:cNvCxnSpPr/>
          <p:nvPr/>
        </p:nvCxnSpPr>
        <p:spPr>
          <a:xfrm>
            <a:off x="2952525" y="3059725"/>
            <a:ext cx="602400" cy="144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86" name="Google Shape;286;p28"/>
          <p:cNvSpPr/>
          <p:nvPr/>
        </p:nvSpPr>
        <p:spPr>
          <a:xfrm>
            <a:off x="5228050" y="1044000"/>
            <a:ext cx="2316000" cy="734100"/>
          </a:xfrm>
          <a:prstGeom prst="wedgeRectCallout">
            <a:avLst>
              <a:gd fmla="val -55184" name="adj1"/>
              <a:gd fmla="val -16273" name="adj2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E101A"/>
                </a:solidFill>
              </a:rPr>
              <a:t>Product vision</a:t>
            </a:r>
            <a:endParaRPr sz="1100">
              <a:solidFill>
                <a:srgbClr val="0E101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E101A"/>
                </a:solidFill>
              </a:rPr>
              <a:t>Ownership</a:t>
            </a:r>
            <a:endParaRPr sz="1100">
              <a:solidFill>
                <a:srgbClr val="0E101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E101A"/>
                </a:solidFill>
              </a:rPr>
              <a:t>Liaison with Customer team</a:t>
            </a:r>
            <a:endParaRPr sz="1100">
              <a:solidFill>
                <a:srgbClr val="0E101A"/>
              </a:solidFill>
            </a:endParaRPr>
          </a:p>
        </p:txBody>
      </p:sp>
      <p:sp>
        <p:nvSpPr>
          <p:cNvPr id="287" name="Google Shape;287;p28"/>
          <p:cNvSpPr/>
          <p:nvPr/>
        </p:nvSpPr>
        <p:spPr>
          <a:xfrm>
            <a:off x="5301600" y="2432153"/>
            <a:ext cx="3222000" cy="854100"/>
          </a:xfrm>
          <a:prstGeom prst="wedgeRectCallout">
            <a:avLst>
              <a:gd fmla="val -55578" name="adj1"/>
              <a:gd fmla="val -23022" name="adj2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E101A"/>
                </a:solidFill>
              </a:rPr>
              <a:t>Technical leadership for delivery</a:t>
            </a:r>
            <a:endParaRPr sz="1100">
              <a:solidFill>
                <a:srgbClr val="0E101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E101A"/>
                </a:solidFill>
              </a:rPr>
              <a:t>Technical architecture and design leadership</a:t>
            </a:r>
            <a:endParaRPr sz="1100">
              <a:solidFill>
                <a:srgbClr val="0E101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E101A"/>
                </a:solidFill>
              </a:rPr>
              <a:t>Ensuring on time delivery</a:t>
            </a:r>
            <a:endParaRPr sz="1100">
              <a:solidFill>
                <a:srgbClr val="0E101A"/>
              </a:solidFill>
            </a:endParaRPr>
          </a:p>
        </p:txBody>
      </p:sp>
      <p:sp>
        <p:nvSpPr>
          <p:cNvPr id="288" name="Google Shape;288;p28"/>
          <p:cNvSpPr/>
          <p:nvPr/>
        </p:nvSpPr>
        <p:spPr>
          <a:xfrm>
            <a:off x="6011700" y="3765075"/>
            <a:ext cx="2511900" cy="678900"/>
          </a:xfrm>
          <a:prstGeom prst="wedgeRectCallout">
            <a:avLst>
              <a:gd fmla="val -54764" name="adj1"/>
              <a:gd fmla="val -20261" name="adj2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E101A"/>
                </a:solidFill>
              </a:rPr>
              <a:t>Providing clean, transformed data ready for analysis using SQL, dbt and off-the-shelf data pipelines</a:t>
            </a:r>
            <a:endParaRPr sz="1100">
              <a:solidFill>
                <a:srgbClr val="0E101A"/>
              </a:solidFill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451000" y="1918700"/>
            <a:ext cx="2815200" cy="678900"/>
          </a:xfrm>
          <a:prstGeom prst="wedgeRectCallout">
            <a:avLst>
              <a:gd fmla="val 17818" name="adj1"/>
              <a:gd fmla="val 59405" name="adj2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E101A"/>
                </a:solidFill>
              </a:rPr>
              <a:t>Ensuring delivery velocity</a:t>
            </a:r>
            <a:endParaRPr sz="1100">
              <a:solidFill>
                <a:srgbClr val="0E101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E101A"/>
                </a:solidFill>
              </a:rPr>
              <a:t>Ensuring on time delivery</a:t>
            </a:r>
            <a:endParaRPr sz="1100">
              <a:solidFill>
                <a:srgbClr val="0E101A"/>
              </a:solidFill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311700" y="3765075"/>
            <a:ext cx="2511900" cy="678900"/>
          </a:xfrm>
          <a:prstGeom prst="wedgeRectCallout">
            <a:avLst>
              <a:gd fmla="val 55284" name="adj1"/>
              <a:gd fmla="val -24311" name="adj2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E101A"/>
                </a:solidFill>
              </a:rPr>
              <a:t>Train-the-trainer for Mestec</a:t>
            </a:r>
            <a:br>
              <a:rPr lang="en" sz="1100">
                <a:solidFill>
                  <a:srgbClr val="0E101A"/>
                </a:solidFill>
              </a:rPr>
            </a:br>
            <a:r>
              <a:rPr lang="en" sz="1100">
                <a:solidFill>
                  <a:srgbClr val="0E101A"/>
                </a:solidFill>
              </a:rPr>
              <a:t>Domain expertise</a:t>
            </a:r>
            <a:endParaRPr sz="1100">
              <a:solidFill>
                <a:srgbClr val="0E101A"/>
              </a:solidFill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4477650" y="3818163"/>
            <a:ext cx="1210200" cy="572700"/>
          </a:xfrm>
          <a:prstGeom prst="rect">
            <a:avLst/>
          </a:prstGeom>
          <a:solidFill>
            <a:srgbClr val="4F6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Analytics Engineer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412675" y="1060375"/>
            <a:ext cx="412500" cy="224100"/>
          </a:xfrm>
          <a:prstGeom prst="rect">
            <a:avLst/>
          </a:prstGeom>
          <a:solidFill>
            <a:srgbClr val="4F6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412675" y="1356300"/>
            <a:ext cx="412500" cy="2241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3" name="Google Shape;293;p28"/>
          <p:cNvSpPr txBox="1"/>
          <p:nvPr/>
        </p:nvSpPr>
        <p:spPr>
          <a:xfrm>
            <a:off x="825175" y="1020538"/>
            <a:ext cx="11124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RA Resource</a:t>
            </a:r>
            <a:endParaRPr sz="800"/>
          </a:p>
        </p:txBody>
      </p:sp>
      <p:sp>
        <p:nvSpPr>
          <p:cNvPr id="294" name="Google Shape;294;p28"/>
          <p:cNvSpPr txBox="1"/>
          <p:nvPr/>
        </p:nvSpPr>
        <p:spPr>
          <a:xfrm>
            <a:off x="825175" y="1301738"/>
            <a:ext cx="11124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Mestec Resource</a:t>
            </a:r>
            <a:endParaRPr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3">
            <a:alphaModFix/>
          </a:blip>
          <a:srcRect b="2303" l="906" r="660" t="9467"/>
          <a:stretch/>
        </p:blipFill>
        <p:spPr>
          <a:xfrm>
            <a:off x="576650" y="557650"/>
            <a:ext cx="7578798" cy="4385051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>
            <p:ph idx="4294967295" type="title"/>
          </p:nvPr>
        </p:nvSpPr>
        <p:spPr>
          <a:xfrm>
            <a:off x="158425" y="52300"/>
            <a:ext cx="8827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Working with Clients in the UK, EU, USA (and BN1!)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/>
          <p:nvPr/>
        </p:nvSpPr>
        <p:spPr>
          <a:xfrm>
            <a:off x="0" y="0"/>
            <a:ext cx="889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Long-Term Supporters &amp; Presenters at BDF</a:t>
            </a:r>
            <a:endParaRPr b="0" i="0" sz="2800" u="none" cap="none" strike="noStrike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547" l="0" r="0" t="0"/>
          <a:stretch/>
        </p:blipFill>
        <p:spPr>
          <a:xfrm>
            <a:off x="0" y="0"/>
            <a:ext cx="9194675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30"/>
          <p:cNvGrpSpPr/>
          <p:nvPr/>
        </p:nvGrpSpPr>
        <p:grpSpPr>
          <a:xfrm>
            <a:off x="-4" y="0"/>
            <a:ext cx="9194675" cy="5143500"/>
            <a:chOff x="-4" y="0"/>
            <a:chExt cx="9194675" cy="5143500"/>
          </a:xfrm>
        </p:grpSpPr>
        <p:pic>
          <p:nvPicPr>
            <p:cNvPr id="309" name="Google Shape;309;p30"/>
            <p:cNvPicPr preferRelativeResize="0"/>
            <p:nvPr/>
          </p:nvPicPr>
          <p:blipFill rotWithShape="1">
            <a:blip r:embed="rId4">
              <a:alphaModFix amt="43000"/>
            </a:blip>
            <a:srcRect b="0" l="0" r="0" t="0"/>
            <a:stretch/>
          </p:blipFill>
          <p:spPr>
            <a:xfrm>
              <a:off x="-4" y="0"/>
              <a:ext cx="9194675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/>
            <p:nvPr/>
          </p:nvSpPr>
          <p:spPr>
            <a:xfrm>
              <a:off x="285125" y="484450"/>
              <a:ext cx="5377200" cy="1089300"/>
            </a:xfrm>
            <a:prstGeom prst="rect">
              <a:avLst/>
            </a:prstGeom>
            <a:solidFill>
              <a:srgbClr val="000000">
                <a:alpha val="46670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0"/>
            <p:cNvSpPr txBox="1"/>
            <p:nvPr/>
          </p:nvSpPr>
          <p:spPr>
            <a:xfrm>
              <a:off x="245175" y="505750"/>
              <a:ext cx="53772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" sz="2800" u="none" cap="none" strike="noStrike">
                  <a:solidFill>
                    <a:schemeClr val="lt1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Sponsors and Organisers of the London Looker Meetup</a:t>
              </a:r>
              <a:endParaRPr b="0" i="0" sz="2800" u="none" cap="none" strike="noStrike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1"/>
          <p:cNvSpPr txBox="1"/>
          <p:nvPr>
            <p:ph idx="1" type="body"/>
          </p:nvPr>
        </p:nvSpPr>
        <p:spPr>
          <a:xfrm>
            <a:off x="311700" y="103838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primary goal of </a:t>
            </a:r>
            <a:r>
              <a:rPr lang="en" u="sng"/>
              <a:t>this platform</a:t>
            </a:r>
            <a:r>
              <a:rPr lang="en"/>
              <a:t> is to empower a range of stakeholders, including: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Directors &amp; Subject Leaders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Senior Leadership Team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ALPS &amp; 6 Dimensions Specialists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MIS Team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to interrogate this consolidated</a:t>
            </a:r>
            <a:br>
              <a:rPr lang="en"/>
            </a:br>
            <a:r>
              <a:rPr lang="en"/>
              <a:t>Barton Peveril dataset, using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Interactive dashboards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Published reports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Ad-hoc queries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Conversational analytics</a:t>
            </a:r>
            <a:endParaRPr/>
          </a:p>
        </p:txBody>
      </p:sp>
      <p:sp>
        <p:nvSpPr>
          <p:cNvPr id="317" name="Google Shape;317;p31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We Are Building</a:t>
            </a:r>
            <a:endParaRPr/>
          </a:p>
        </p:txBody>
      </p:sp>
      <p:sp>
        <p:nvSpPr>
          <p:cNvPr id="318" name="Google Shape;318;p31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INTRODUCTIONS</a:t>
            </a:r>
            <a:endParaRPr/>
          </a:p>
        </p:txBody>
      </p:sp>
      <p:grpSp>
        <p:nvGrpSpPr>
          <p:cNvPr id="319" name="Google Shape;319;p31"/>
          <p:cNvGrpSpPr/>
          <p:nvPr/>
        </p:nvGrpSpPr>
        <p:grpSpPr>
          <a:xfrm>
            <a:off x="3925800" y="1975930"/>
            <a:ext cx="547425" cy="2320686"/>
            <a:chOff x="4172800" y="2430242"/>
            <a:chExt cx="547425" cy="2320686"/>
          </a:xfrm>
        </p:grpSpPr>
        <p:grpSp>
          <p:nvGrpSpPr>
            <p:cNvPr id="320" name="Google Shape;320;p31"/>
            <p:cNvGrpSpPr/>
            <p:nvPr/>
          </p:nvGrpSpPr>
          <p:grpSpPr>
            <a:xfrm>
              <a:off x="4226634" y="2430242"/>
              <a:ext cx="439756" cy="498056"/>
              <a:chOff x="5428625" y="2446300"/>
              <a:chExt cx="558846" cy="632934"/>
            </a:xfrm>
          </p:grpSpPr>
          <p:sp>
            <p:nvSpPr>
              <p:cNvPr id="321" name="Google Shape;321;p31"/>
              <p:cNvSpPr/>
              <p:nvPr/>
            </p:nvSpPr>
            <p:spPr>
              <a:xfrm>
                <a:off x="5428625" y="2446300"/>
                <a:ext cx="558846" cy="632934"/>
              </a:xfrm>
              <a:prstGeom prst="flowChartDocument">
                <a:avLst/>
              </a:prstGeom>
              <a:solidFill>
                <a:schemeClr val="lt1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1950" lIns="71950" spcFirstLastPara="1" rIns="71950" wrap="square" tIns="719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1"/>
                  <a:buFont typeface="Arial"/>
                  <a:buNone/>
                </a:pPr>
                <a:r>
                  <a:t/>
                </a:r>
                <a:endParaRPr b="0" i="0" sz="110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22" name="Google Shape;322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497075" y="2531300"/>
                <a:ext cx="421950" cy="358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23" name="Google Shape;323;p31"/>
            <p:cNvGrpSpPr/>
            <p:nvPr/>
          </p:nvGrpSpPr>
          <p:grpSpPr>
            <a:xfrm>
              <a:off x="4172800" y="3034677"/>
              <a:ext cx="547425" cy="628798"/>
              <a:chOff x="4539050" y="2136827"/>
              <a:chExt cx="547425" cy="628798"/>
            </a:xfrm>
          </p:grpSpPr>
          <p:sp>
            <p:nvSpPr>
              <p:cNvPr id="324" name="Google Shape;324;p31"/>
              <p:cNvSpPr/>
              <p:nvPr/>
            </p:nvSpPr>
            <p:spPr>
              <a:xfrm>
                <a:off x="4539050" y="2136827"/>
                <a:ext cx="547425" cy="628798"/>
              </a:xfrm>
              <a:prstGeom prst="flowChartMagneticDisk">
                <a:avLst/>
              </a:prstGeom>
              <a:solidFill>
                <a:schemeClr val="lt1"/>
              </a:solidFill>
              <a:ln cap="flat" cmpd="sng" w="9525">
                <a:solidFill>
                  <a:srgbClr val="CCCCC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25" name="Google Shape;325;p31"/>
              <p:cNvPicPr preferRelativeResize="0"/>
              <p:nvPr/>
            </p:nvPicPr>
            <p:blipFill rotWithShape="1">
              <a:blip r:embed="rId4">
                <a:alphaModFix/>
              </a:blip>
              <a:srcRect b="9259" l="15324" r="15213" t="13900"/>
              <a:stretch/>
            </p:blipFill>
            <p:spPr>
              <a:xfrm>
                <a:off x="4650250" y="2370525"/>
                <a:ext cx="325025" cy="332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26" name="Google Shape;326;p31"/>
            <p:cNvGrpSpPr/>
            <p:nvPr/>
          </p:nvGrpSpPr>
          <p:grpSpPr>
            <a:xfrm>
              <a:off x="4252377" y="3769836"/>
              <a:ext cx="388286" cy="439763"/>
              <a:chOff x="6987950" y="3275700"/>
              <a:chExt cx="558846" cy="632934"/>
            </a:xfrm>
          </p:grpSpPr>
          <p:sp>
            <p:nvSpPr>
              <p:cNvPr id="327" name="Google Shape;327;p31"/>
              <p:cNvSpPr/>
              <p:nvPr/>
            </p:nvSpPr>
            <p:spPr>
              <a:xfrm>
                <a:off x="6987950" y="3275700"/>
                <a:ext cx="558846" cy="632934"/>
              </a:xfrm>
              <a:prstGeom prst="flowChartDocument">
                <a:avLst/>
              </a:prstGeom>
              <a:solidFill>
                <a:schemeClr val="lt1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3525" lIns="63525" spcFirstLastPara="1" rIns="63525" wrap="square" tIns="635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72"/>
                  <a:buFont typeface="Arial"/>
                  <a:buNone/>
                </a:pPr>
                <a:r>
                  <a:t/>
                </a:r>
                <a:endParaRPr b="0" i="0" sz="97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28" name="Google Shape;328;p3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075851" y="3355425"/>
                <a:ext cx="360997" cy="3649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29" name="Google Shape;329;p31"/>
            <p:cNvGrpSpPr/>
            <p:nvPr/>
          </p:nvGrpSpPr>
          <p:grpSpPr>
            <a:xfrm>
              <a:off x="4240476" y="4284202"/>
              <a:ext cx="412093" cy="466726"/>
              <a:chOff x="7040825" y="2430138"/>
              <a:chExt cx="558846" cy="632934"/>
            </a:xfrm>
          </p:grpSpPr>
          <p:sp>
            <p:nvSpPr>
              <p:cNvPr id="330" name="Google Shape;330;p31"/>
              <p:cNvSpPr/>
              <p:nvPr/>
            </p:nvSpPr>
            <p:spPr>
              <a:xfrm>
                <a:off x="7040825" y="2430138"/>
                <a:ext cx="558846" cy="632934"/>
              </a:xfrm>
              <a:prstGeom prst="flowChartDocument">
                <a:avLst/>
              </a:prstGeom>
              <a:solidFill>
                <a:schemeClr val="lt1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7425" lIns="67425" spcFirstLastPara="1" rIns="67425" wrap="square" tIns="67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32"/>
                  <a:buFont typeface="Arial"/>
                  <a:buNone/>
                </a:pPr>
                <a:r>
                  <a:t/>
                </a:r>
                <a:endParaRPr b="0" i="0" sz="103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31" name="Google Shape;331;p3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075850" y="2471100"/>
                <a:ext cx="488800" cy="429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32" name="Google Shape;332;p31"/>
          <p:cNvGrpSpPr/>
          <p:nvPr/>
        </p:nvGrpSpPr>
        <p:grpSpPr>
          <a:xfrm>
            <a:off x="4984750" y="2787775"/>
            <a:ext cx="1049225" cy="866750"/>
            <a:chOff x="5440025" y="2702900"/>
            <a:chExt cx="1049225" cy="866750"/>
          </a:xfrm>
        </p:grpSpPr>
        <p:sp>
          <p:nvSpPr>
            <p:cNvPr id="333" name="Google Shape;333;p31"/>
            <p:cNvSpPr/>
            <p:nvPr/>
          </p:nvSpPr>
          <p:spPr>
            <a:xfrm>
              <a:off x="5440025" y="2702900"/>
              <a:ext cx="1049225" cy="866750"/>
            </a:xfrm>
            <a:prstGeom prst="flowChartMagneticDisk">
              <a:avLst/>
            </a:prstGeom>
            <a:solidFill>
              <a:schemeClr val="lt1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4" name="Google Shape;334;p31"/>
            <p:cNvPicPr preferRelativeResize="0"/>
            <p:nvPr/>
          </p:nvPicPr>
          <p:blipFill rotWithShape="1">
            <a:blip r:embed="rId7">
              <a:alphaModFix/>
            </a:blip>
            <a:srcRect b="13002" l="6750" r="4322" t="10199"/>
            <a:stretch/>
          </p:blipFill>
          <p:spPr>
            <a:xfrm>
              <a:off x="5576900" y="3027950"/>
              <a:ext cx="832524" cy="4048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5" name="Google Shape;335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75674" y="2400538"/>
            <a:ext cx="2418166" cy="1641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6" name="Google Shape;336;p31"/>
          <p:cNvCxnSpPr>
            <a:stCxn id="321" idx="3"/>
            <a:endCxn id="333" idx="2"/>
          </p:cNvCxnSpPr>
          <p:nvPr/>
        </p:nvCxnSpPr>
        <p:spPr>
          <a:xfrm>
            <a:off x="4419390" y="2224958"/>
            <a:ext cx="565500" cy="996300"/>
          </a:xfrm>
          <a:prstGeom prst="bentConnector3">
            <a:avLst>
              <a:gd fmla="val 49988" name="adj1"/>
            </a:avLst>
          </a:prstGeom>
          <a:noFill/>
          <a:ln cap="flat" cmpd="sng" w="9525">
            <a:solidFill>
              <a:srgbClr val="CCCCCC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37" name="Google Shape;337;p31"/>
          <p:cNvCxnSpPr>
            <a:stCxn id="324" idx="4"/>
            <a:endCxn id="333" idx="2"/>
          </p:cNvCxnSpPr>
          <p:nvPr/>
        </p:nvCxnSpPr>
        <p:spPr>
          <a:xfrm>
            <a:off x="4473225" y="2894764"/>
            <a:ext cx="511500" cy="326400"/>
          </a:xfrm>
          <a:prstGeom prst="bentConnector3">
            <a:avLst>
              <a:gd fmla="val 44203" name="adj1"/>
            </a:avLst>
          </a:prstGeom>
          <a:noFill/>
          <a:ln cap="flat" cmpd="sng" w="9525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8" name="Google Shape;338;p31"/>
          <p:cNvCxnSpPr>
            <a:stCxn id="327" idx="3"/>
            <a:endCxn id="333" idx="2"/>
          </p:cNvCxnSpPr>
          <p:nvPr/>
        </p:nvCxnSpPr>
        <p:spPr>
          <a:xfrm flipH="1" rot="10800000">
            <a:off x="4393663" y="3221005"/>
            <a:ext cx="591000" cy="3144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9" name="Google Shape;339;p31"/>
          <p:cNvCxnSpPr>
            <a:stCxn id="331" idx="3"/>
            <a:endCxn id="333" idx="2"/>
          </p:cNvCxnSpPr>
          <p:nvPr/>
        </p:nvCxnSpPr>
        <p:spPr>
          <a:xfrm flipH="1" rot="10800000">
            <a:off x="4379744" y="3221117"/>
            <a:ext cx="605100" cy="797400"/>
          </a:xfrm>
          <a:prstGeom prst="bentConnector3">
            <a:avLst>
              <a:gd fmla="val 52815" name="adj1"/>
            </a:avLst>
          </a:prstGeom>
          <a:noFill/>
          <a:ln cap="flat" cmpd="sng" w="9525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0" name="Google Shape;340;p31"/>
          <p:cNvCxnSpPr>
            <a:stCxn id="333" idx="4"/>
            <a:endCxn id="335" idx="1"/>
          </p:cNvCxnSpPr>
          <p:nvPr/>
        </p:nvCxnSpPr>
        <p:spPr>
          <a:xfrm>
            <a:off x="6033975" y="3221150"/>
            <a:ext cx="3417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41" name="Google Shape;341;p31"/>
          <p:cNvSpPr/>
          <p:nvPr/>
        </p:nvSpPr>
        <p:spPr>
          <a:xfrm>
            <a:off x="354950" y="2224950"/>
            <a:ext cx="385800" cy="31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Discovery Workshop</a:t>
            </a:r>
            <a:endParaRPr/>
          </a:p>
        </p:txBody>
      </p:sp>
      <p:sp>
        <p:nvSpPr>
          <p:cNvPr id="347" name="Google Shape;347;p32"/>
          <p:cNvSpPr txBox="1"/>
          <p:nvPr>
            <p:ph idx="1" type="body"/>
          </p:nvPr>
        </p:nvSpPr>
        <p:spPr>
          <a:xfrm>
            <a:off x="311700" y="103838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We want to hear from you about the questions you can't easily answer today: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We're particularly interested in: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Pain points with how you currently get data and reports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insights you wish you had access to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Which questions matter most to your day-to-day work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Simple priority ranking exercise to understand what's most valuable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For example:</a:t>
            </a:r>
            <a:endParaRPr/>
          </a:p>
          <a:p>
            <a:pPr indent="-3175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Understanding subject performance trends and anomalies</a:t>
            </a:r>
            <a:endParaRPr/>
          </a:p>
          <a:p>
            <a:pPr indent="-3175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Identifying where students are underperforming within your subjects</a:t>
            </a:r>
            <a:endParaRPr/>
          </a:p>
          <a:p>
            <a:pPr indent="-3175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Comparing your results to national benchmarks</a:t>
            </a:r>
            <a:endParaRPr/>
          </a:p>
          <a:p>
            <a:pPr indent="-3175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Spotting attainment gaps by gender, disadvantage, ethnicity, or SEND</a:t>
            </a:r>
            <a:endParaRPr/>
          </a:p>
          <a:p>
            <a:pPr indent="-3175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Understanding grade distributions and how they're changing</a:t>
            </a:r>
            <a:endParaRPr/>
          </a:p>
        </p:txBody>
      </p:sp>
      <p:sp>
        <p:nvSpPr>
          <p:cNvPr id="348" name="Google Shape;348;p32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DISCOVERY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3"/>
          <p:cNvSpPr txBox="1"/>
          <p:nvPr/>
        </p:nvSpPr>
        <p:spPr>
          <a:xfrm>
            <a:off x="221400" y="2099425"/>
            <a:ext cx="87012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Interactive Dashboard Mocks @</a:t>
            </a:r>
            <a:endParaRPr b="0" i="0" sz="2300" u="none" cap="none" strike="noStrik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sng" cap="none" strike="noStrike"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https://bpdemo.rittmananalytics.com</a:t>
            </a:r>
            <a:r>
              <a:rPr b="0" i="0" lang="en" sz="2000" u="none" cap="none" strike="noStrike"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b="0" i="0" lang="en" sz="2000" u="none" cap="none" strike="noStrik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(full concepts)</a:t>
            </a:r>
            <a:endParaRPr b="0" i="0" sz="2000" u="none" cap="none" strike="noStrik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sng" cap="none" strike="noStrike"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https://bpdemo-mvp.rittmananalytics.com</a:t>
            </a:r>
            <a:r>
              <a:rPr b="0" i="0" lang="en" sz="2000" u="none" cap="none" strike="noStrike">
                <a:solidFill>
                  <a:srgbClr val="4F60FF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b="0" i="0" lang="en" sz="2000" u="none" cap="none" strike="noStrik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(MVP data only)</a:t>
            </a:r>
            <a:endParaRPr b="0" i="0" sz="2000" u="none" cap="none" strike="noStrike">
              <a:solidFill>
                <a:srgbClr val="4F60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4"/>
          <p:cNvSpPr txBox="1"/>
          <p:nvPr>
            <p:ph type="title"/>
          </p:nvPr>
        </p:nvSpPr>
        <p:spPr>
          <a:xfrm>
            <a:off x="311700" y="42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Project Timeline</a:t>
            </a:r>
            <a:endParaRPr/>
          </a:p>
        </p:txBody>
      </p:sp>
      <p:sp>
        <p:nvSpPr>
          <p:cNvPr id="359" name="Google Shape;359;p34"/>
          <p:cNvSpPr txBox="1"/>
          <p:nvPr>
            <p:ph idx="2" type="subTitle"/>
          </p:nvPr>
        </p:nvSpPr>
        <p:spPr>
          <a:xfrm>
            <a:off x="311700" y="93750"/>
            <a:ext cx="5053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WRAP-UP</a:t>
            </a:r>
            <a:endParaRPr/>
          </a:p>
        </p:txBody>
      </p:sp>
      <p:sp>
        <p:nvSpPr>
          <p:cNvPr id="360" name="Google Shape;360;p34"/>
          <p:cNvSpPr/>
          <p:nvPr/>
        </p:nvSpPr>
        <p:spPr>
          <a:xfrm>
            <a:off x="388950" y="1828775"/>
            <a:ext cx="2848500" cy="8562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Week 1:</a:t>
            </a:r>
            <a:br>
              <a:rPr b="0" i="0" lang="en" sz="13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0" i="0" lang="en" sz="13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MVP: Core Student Attainment</a:t>
            </a:r>
            <a:endParaRPr b="0" i="0" sz="13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61" name="Google Shape;361;p34"/>
          <p:cNvSpPr/>
          <p:nvPr/>
        </p:nvSpPr>
        <p:spPr>
          <a:xfrm>
            <a:off x="3280800" y="1828775"/>
            <a:ext cx="2657100" cy="8562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Week 2:</a:t>
            </a:r>
            <a:br>
              <a:rPr b="0" i="0" lang="en" sz="13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b="0" i="0" lang="en" sz="13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ALPS Provider Benchmarking </a:t>
            </a:r>
            <a:endParaRPr b="0" i="0" sz="13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62" name="Google Shape;36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782" y="3107614"/>
            <a:ext cx="1416899" cy="11623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3" name="Google Shape;36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3525" y="3107676"/>
            <a:ext cx="1601725" cy="1265426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364" name="Google Shape;364;p34"/>
          <p:cNvGrpSpPr/>
          <p:nvPr/>
        </p:nvGrpSpPr>
        <p:grpSpPr>
          <a:xfrm>
            <a:off x="6082425" y="1828775"/>
            <a:ext cx="2267700" cy="2441149"/>
            <a:chOff x="5981250" y="1828775"/>
            <a:chExt cx="2267700" cy="2441149"/>
          </a:xfrm>
        </p:grpSpPr>
        <p:sp>
          <p:nvSpPr>
            <p:cNvPr id="365" name="Google Shape;365;p34"/>
            <p:cNvSpPr/>
            <p:nvPr/>
          </p:nvSpPr>
          <p:spPr>
            <a:xfrm>
              <a:off x="5981250" y="1828775"/>
              <a:ext cx="2267700" cy="856200"/>
            </a:xfrm>
            <a:prstGeom prst="homePlate">
              <a:avLst>
                <a:gd fmla="val 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000000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Week 2:</a:t>
              </a:r>
              <a:br>
                <a:rPr b="0" i="0" lang="en" sz="1300" u="none" cap="none" strike="noStrike">
                  <a:solidFill>
                    <a:srgbClr val="000000"/>
                  </a:solidFill>
                  <a:latin typeface="Google Sans"/>
                  <a:ea typeface="Google Sans"/>
                  <a:cs typeface="Google Sans"/>
                  <a:sym typeface="Google Sans"/>
                </a:rPr>
              </a:br>
              <a:r>
                <a:rPr b="0" i="0" lang="en" sz="1300" u="none" cap="none" strike="noStrike">
                  <a:solidFill>
                    <a:srgbClr val="000000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Six Dimensions/JEDI Benchmarking Integration</a:t>
              </a:r>
              <a:endParaRPr b="0" i="0" sz="13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id="366" name="Google Shape;366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122455" y="3107625"/>
              <a:ext cx="1985295" cy="1162299"/>
            </a:xfrm>
            <a:prstGeom prst="rect">
              <a:avLst/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367" name="Google Shape;367;p34"/>
            <p:cNvCxnSpPr>
              <a:stCxn id="365" idx="2"/>
              <a:endCxn id="366" idx="0"/>
            </p:cNvCxnSpPr>
            <p:nvPr/>
          </p:nvCxnSpPr>
          <p:spPr>
            <a:xfrm>
              <a:off x="7115100" y="2684975"/>
              <a:ext cx="0" cy="422700"/>
            </a:xfrm>
            <a:prstGeom prst="straightConnector1">
              <a:avLst/>
            </a:prstGeom>
            <a:noFill/>
            <a:ln cap="flat" cmpd="sng" w="9525">
              <a:solidFill>
                <a:srgbClr val="D9D9D9"/>
              </a:solidFill>
              <a:prstDash val="dash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368" name="Google Shape;368;p34"/>
          <p:cNvCxnSpPr/>
          <p:nvPr/>
        </p:nvCxnSpPr>
        <p:spPr>
          <a:xfrm>
            <a:off x="4380788" y="2684975"/>
            <a:ext cx="7200" cy="4227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69" name="Google Shape;369;p34"/>
          <p:cNvCxnSpPr/>
          <p:nvPr/>
        </p:nvCxnSpPr>
        <p:spPr>
          <a:xfrm>
            <a:off x="1731613" y="2684975"/>
            <a:ext cx="7200" cy="4227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70" name="Google Shape;370;p34"/>
          <p:cNvSpPr txBox="1"/>
          <p:nvPr/>
        </p:nvSpPr>
        <p:spPr>
          <a:xfrm>
            <a:off x="388950" y="1355463"/>
            <a:ext cx="141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 1st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4"/>
          <p:cNvSpPr txBox="1"/>
          <p:nvPr/>
        </p:nvSpPr>
        <p:spPr>
          <a:xfrm>
            <a:off x="6564100" y="1355463"/>
            <a:ext cx="141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 19th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