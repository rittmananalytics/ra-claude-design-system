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Google Sans SemiBold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  <p:embeddedFont>
      <p:font typeface="Google Sans"/>
      <p:regular r:id="rId17"/>
      <p:bold r:id="rId18"/>
      <p:italic r:id="rId19"/>
      <p:boldItalic r:id="rId20"/>
    </p:embeddedFont>
    <p:embeddedFont>
      <p:font typeface="Google Sa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Italic.fntdata"/><Relationship Id="rId11" Type="http://schemas.openxmlformats.org/officeDocument/2006/relationships/font" Target="fonts/GoogleSansSemiBold-italic.fntdata"/><Relationship Id="rId22" Type="http://schemas.openxmlformats.org/officeDocument/2006/relationships/font" Target="fonts/GoogleSansMedium-bold.fntdata"/><Relationship Id="rId10" Type="http://schemas.openxmlformats.org/officeDocument/2006/relationships/font" Target="fonts/GoogleSansSemiBold-bold.fntdata"/><Relationship Id="rId21" Type="http://schemas.openxmlformats.org/officeDocument/2006/relationships/font" Target="fonts/GoogleSansMedium-regular.fntdata"/><Relationship Id="rId13" Type="http://schemas.openxmlformats.org/officeDocument/2006/relationships/font" Target="fonts/Lato-regular.fntdata"/><Relationship Id="rId24" Type="http://schemas.openxmlformats.org/officeDocument/2006/relationships/font" Target="fonts/GoogleSansMedium-boldItalic.fntdata"/><Relationship Id="rId12" Type="http://schemas.openxmlformats.org/officeDocument/2006/relationships/font" Target="fonts/GoogleSansSemiBold-boldItalic.fntdata"/><Relationship Id="rId23" Type="http://schemas.openxmlformats.org/officeDocument/2006/relationships/font" Target="fonts/Google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SemiBold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GoogleSans-regular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721a32b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721a32b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ca7820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9ca7820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ca78201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9ca78201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TITLE_AND_BODY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ogle Sans"/>
              <a:buChar char="●"/>
              <a:defRPr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○"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  <a:defRPr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Char char="○"/>
              <a:defRPr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■"/>
              <a:defRPr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ogle Sans"/>
              <a:buChar char="●"/>
              <a:defRPr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oogle Sans"/>
              <a:buChar char="○"/>
              <a:defRPr sz="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■"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  <a:defRPr sz="14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  <a:defRPr sz="1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○"/>
              <a:defRPr sz="1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■"/>
              <a:defRPr sz="1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">
  <p:cSld name="CUSTOM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1">
  <p:cSld name="CUSTOM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685350" y="2684400"/>
            <a:ext cx="2458500" cy="2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700"/>
              <a:buNone/>
              <a:defRPr sz="1700">
                <a:solidFill>
                  <a:srgbClr val="4F60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Title and Body Columns">
  <p:cSld name="TITLE_AND_BODY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54850" y="1546250"/>
            <a:ext cx="29607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879450" y="1609350"/>
            <a:ext cx="40857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Google Sans"/>
              <a:buChar char="●"/>
              <a:defRPr sz="1300">
                <a:latin typeface="Google Sans"/>
                <a:ea typeface="Google Sans"/>
                <a:cs typeface="Google Sans"/>
                <a:sym typeface="Google Sans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1_Custom Layout_7_2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239100" y="2990175"/>
            <a:ext cx="5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sz="17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37" name="Google Shape;3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50" y="324000"/>
            <a:ext cx="1230450" cy="4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 1">
  <p:cSld name="1_Custom Layout_7_2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1600"/>
              <a:buFont typeface="Google Sans SemiBold"/>
              <a:buNone/>
              <a:defRPr>
                <a:solidFill>
                  <a:srgbClr val="99FF9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300" y="442477"/>
            <a:ext cx="1012788" cy="3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2" type="subTitle"/>
          </p:nvPr>
        </p:nvSpPr>
        <p:spPr>
          <a:xfrm>
            <a:off x="239100" y="29901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sz="17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48" name="Google Shape;4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2F399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sz="19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1">
  <p:cSld name="MAIN_POINT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sz="19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">
  <p:cSld name="CUSTOM_2_2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ogle Sans"/>
              <a:buNone/>
              <a:defRPr sz="1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 1">
  <p:cSld name="CUSTOM_2_2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">
  <p:cSld name="1_Custom Layout_6_1_1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">
  <p:cSld name="1_Custom Layout_6_1_1_1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 1">
  <p:cSld name="1_Custom Layout_6_1_1_1_1">
    <p:bg>
      <p:bgPr>
        <a:solidFill>
          <a:schemeClr val="dk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1">
  <p:cSld name="TITLE_AND_BODY_3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ogle Sans"/>
              <a:buChar char="●"/>
              <a:defRPr b="0" i="0" sz="16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○"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Char char="○"/>
              <a:defRPr b="0" i="0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■"/>
              <a:defRPr b="0" i="0" sz="1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ogle Sans"/>
              <a:buChar char="●"/>
              <a:defRPr b="0" i="0" sz="9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794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oogle Sans"/>
              <a:buChar char="○"/>
              <a:defRPr b="0" i="0" sz="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730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■"/>
              <a:defRPr b="0" i="0" sz="7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 i="0" sz="14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311700" y="1115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144425" y="4676425"/>
            <a:ext cx="69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© Rittman Analytics </a:t>
            </a: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2025</a:t>
            </a:r>
            <a:r>
              <a:rPr lang="en" sz="900">
                <a:latin typeface="Google Sans"/>
                <a:ea typeface="Google Sans"/>
                <a:cs typeface="Google Sans"/>
                <a:sym typeface="Google Sans"/>
              </a:rPr>
              <a:t>     T: +44 (0)208 058 5951	W: https://rittmananalytics.com	E: info@rittmananalytics.com    </a:t>
            </a:r>
            <a:endParaRPr sz="9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hyperlink" Target="https://go.rittmananalytics.com/cia" TargetMode="External"/><Relationship Id="rId7" Type="http://schemas.openxmlformats.org/officeDocument/2006/relationships/hyperlink" Target="https://go.rittmananalytics.com/qubit" TargetMode="External"/><Relationship Id="rId8" Type="http://schemas.openxmlformats.org/officeDocument/2006/relationships/hyperlink" Target="https://go.rittmananalytics.com/live-tap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Rittman Analytics Expertise</a:t>
            </a:r>
            <a:endParaRPr/>
          </a:p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 title="Group 71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625" y="1445775"/>
            <a:ext cx="3580001" cy="202074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1700" y="3579250"/>
            <a:ext cx="4302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Google Cloud Data Analytics Specialized Partner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Delivering Looker implementations since 2016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Snowflake Data Cloud Services Partner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Dbt Labs, Segment, Cube, Dagster, Fivetran partners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6700" y="1445774"/>
            <a:ext cx="1547913" cy="202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9300" y="1445748"/>
            <a:ext cx="1547925" cy="20208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898575" y="3695050"/>
            <a:ext cx="3843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6"/>
              </a:rPr>
              <a:t>https://go.rittmananalytics.com/cia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7"/>
              </a:rPr>
              <a:t>https://go.rittmananalytics.com/qubit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Google Sans"/>
              <a:buChar char="●"/>
            </a:pPr>
            <a:r>
              <a:rPr lang="en" sz="12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8"/>
              </a:rPr>
              <a:t>https://go.rittmananalytics.com/live-tap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013175" y="1111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Technical Expertise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5320225" y="1111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Example Project</a:t>
            </a:r>
            <a:r>
              <a:rPr lang="en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Implementations</a:t>
            </a:r>
            <a:endParaRPr sz="12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Rittman Analytics</a:t>
            </a:r>
            <a:endParaRPr/>
          </a:p>
        </p:txBody>
      </p:sp>
      <p:sp>
        <p:nvSpPr>
          <p:cNvPr id="91" name="Google Shape;91;p18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Analytics consultancy founded in 2018 by Mark Rittman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Based in Brighton, UK with clients in UK, EU and USA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Google Cloud Specialised Data Analytics Partner 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Team of 10 Certified Google Cloud consultants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Specialists in Looker, BigQuery GCP stack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5+ Years partnering with Looker, Google Cloud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Cube, Fivetran, Dagster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dbt Labs, Snowflake, Oracle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Segment, Rudderstack, SnowCatCloud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help high-growth data-rich businesses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their data strategy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Modernise their data stack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Centralise their reporting data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their approach to data analytics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125" y="1153750"/>
            <a:ext cx="2405650" cy="24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323" y="1050400"/>
            <a:ext cx="5561375" cy="359534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0" y="1480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Our Team of Experts</a:t>
            </a:r>
            <a:endParaRPr b="0" i="0" sz="21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89400" y="548875"/>
            <a:ext cx="73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highlight>
                  <a:srgbClr val="F9FAFB"/>
                </a:highlight>
                <a:latin typeface="Google Sans"/>
                <a:ea typeface="Google Sans"/>
                <a:cs typeface="Google Sans"/>
                <a:sym typeface="Google Sans"/>
              </a:rPr>
              <a:t>Our team is composed of seasoned data strategists, architects, and analytics engineers with decades of combined experience.</a:t>
            </a:r>
            <a:endParaRPr b="0" i="0" sz="11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